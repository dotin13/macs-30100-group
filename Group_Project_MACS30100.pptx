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x="18288000" cy="10287000"/>
  <p:notesSz cx="6858000" cy="9144000"/>
  <p:embeddedFontLst>
    <p:embeddedFont>
      <p:font typeface="Public Sans Bold" charset="1" panose="00000000000000000000"/>
      <p:regular r:id="rId27"/>
    </p:embeddedFont>
    <p:embeddedFont>
      <p:font typeface="Playfair Display" charset="1" panose="00000500000000000000"/>
      <p:regular r:id="rId28"/>
    </p:embeddedFont>
    <p:embeddedFont>
      <p:font typeface="Public Sans" charset="1" panose="00000000000000000000"/>
      <p:regular r:id="rId29"/>
    </p:embeddedFont>
    <p:embeddedFont>
      <p:font typeface="Avenir" charset="1" panose="020B0503020203020204"/>
      <p:regular r:id="rId30"/>
    </p:embeddedFont>
    <p:embeddedFont>
      <p:font typeface="Avenir Bold" charset="1" panose="020B0703020203020204"/>
      <p:regular r:id="rId3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fonts/font31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4.png" Type="http://schemas.openxmlformats.org/officeDocument/2006/relationships/image"/><Relationship Id="rId5" Target="../media/image5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png" Type="http://schemas.openxmlformats.org/officeDocument/2006/relationships/image"/><Relationship Id="rId4" Target="../media/image8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png" Type="http://schemas.openxmlformats.org/officeDocument/2006/relationships/image"/><Relationship Id="rId4" Target="../media/image11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Relationship Id="rId3" Target="../media/image17.png" Type="http://schemas.openxmlformats.org/officeDocument/2006/relationships/image"/><Relationship Id="rId4" Target="../media/image18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Relationship Id="rId3" Target="../media/image19.png" Type="http://schemas.openxmlformats.org/officeDocument/2006/relationships/image"/><Relationship Id="rId4" Target="../media/image20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Relationship Id="rId3" Target="../media/image22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3.png" Type="http://schemas.openxmlformats.org/officeDocument/2006/relationships/image"/><Relationship Id="rId3" Target="../media/image24.png" Type="http://schemas.openxmlformats.org/officeDocument/2006/relationships/image"/><Relationship Id="rId4" Target="../media/image25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6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7.png" Type="http://schemas.openxmlformats.org/officeDocument/2006/relationships/image"/><Relationship Id="rId3" Target="../media/image28.png" Type="http://schemas.openxmlformats.org/officeDocument/2006/relationships/image"/><Relationship Id="rId4" Target="../media/image29.png" Type="http://schemas.openxmlformats.org/officeDocument/2006/relationships/image"/><Relationship Id="rId5" Target="../media/image30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1.jpeg" Type="http://schemas.openxmlformats.org/officeDocument/2006/relationships/image"/><Relationship Id="rId3" Target="../media/image32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3.jpeg" Type="http://schemas.openxmlformats.org/officeDocument/2006/relationships/image"/><Relationship Id="rId3" Target="../media/image32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4.jpeg" Type="http://schemas.openxmlformats.org/officeDocument/2006/relationships/image"/><Relationship Id="rId3" Target="../media/image32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5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1028706" y="4514765"/>
            <a:ext cx="16230594" cy="38509"/>
          </a:xfrm>
          <a:prstGeom prst="line">
            <a:avLst/>
          </a:prstGeom>
          <a:ln cap="flat" w="9525">
            <a:solidFill>
              <a:srgbClr val="2B2C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" id="3"/>
          <p:cNvSpPr txBox="true"/>
          <p:nvPr/>
        </p:nvSpPr>
        <p:spPr>
          <a:xfrm rot="0">
            <a:off x="1006882" y="4728792"/>
            <a:ext cx="16230600" cy="651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0"/>
              </a:lnSpc>
              <a:spcBef>
                <a:spcPct val="0"/>
              </a:spcBef>
            </a:pPr>
            <a:r>
              <a:rPr lang="en-US" b="true" sz="3714" spc="843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MACS 30100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18016" y="1863207"/>
            <a:ext cx="16408332" cy="23047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700"/>
              </a:lnSpc>
            </a:pPr>
            <a:r>
              <a:rPr lang="en-US" sz="9560" spc="47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Predicting Political Ideology Using Machine Learning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16407" y="8917305"/>
            <a:ext cx="7862435" cy="426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50"/>
              </a:lnSpc>
            </a:pPr>
            <a:r>
              <a:rPr lang="en-US" sz="230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Charlotte Li, Eddie Tian, Peter Zhang, Jiahang Luo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764995" y="567608"/>
            <a:ext cx="4354397" cy="4365311"/>
          </a:xfrm>
          <a:custGeom>
            <a:avLst/>
            <a:gdLst/>
            <a:ahLst/>
            <a:cxnLst/>
            <a:rect r="r" b="b" t="t" l="l"/>
            <a:pathLst>
              <a:path h="4365311" w="4354397">
                <a:moveTo>
                  <a:pt x="0" y="0"/>
                </a:moveTo>
                <a:lnTo>
                  <a:pt x="4354397" y="0"/>
                </a:lnTo>
                <a:lnTo>
                  <a:pt x="4354397" y="4365311"/>
                </a:lnTo>
                <a:lnTo>
                  <a:pt x="0" y="436531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8023707" y="6205595"/>
            <a:ext cx="1543050" cy="1009571"/>
            <a:chOff x="0" y="0"/>
            <a:chExt cx="812800" cy="53179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531791"/>
            </a:xfrm>
            <a:custGeom>
              <a:avLst/>
              <a:gdLst/>
              <a:ahLst/>
              <a:cxnLst/>
              <a:rect r="r" b="b" t="t" l="l"/>
              <a:pathLst>
                <a:path h="531791" w="812800">
                  <a:moveTo>
                    <a:pt x="812800" y="265895"/>
                  </a:moveTo>
                  <a:lnTo>
                    <a:pt x="406400" y="0"/>
                  </a:lnTo>
                  <a:lnTo>
                    <a:pt x="406400" y="203200"/>
                  </a:lnTo>
                  <a:lnTo>
                    <a:pt x="0" y="203200"/>
                  </a:lnTo>
                  <a:lnTo>
                    <a:pt x="0" y="328591"/>
                  </a:lnTo>
                  <a:lnTo>
                    <a:pt x="406400" y="328591"/>
                  </a:lnTo>
                  <a:lnTo>
                    <a:pt x="406400" y="531791"/>
                  </a:lnTo>
                  <a:lnTo>
                    <a:pt x="812800" y="265895"/>
                  </a:lnTo>
                  <a:close/>
                </a:path>
              </a:pathLst>
            </a:custGeom>
            <a:solidFill>
              <a:srgbClr val="2B2C3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174625"/>
              <a:ext cx="711200" cy="1539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00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576642" y="2426311"/>
            <a:ext cx="11376936" cy="9144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0"/>
              </a:lnSpc>
            </a:pPr>
            <a:r>
              <a:rPr lang="en-US" sz="3000">
                <a:solidFill>
                  <a:srgbClr val="737373"/>
                </a:solidFill>
                <a:latin typeface="Avenir"/>
                <a:ea typeface="Avenir"/>
                <a:cs typeface="Avenir"/>
                <a:sym typeface="Avenir"/>
              </a:rPr>
              <a:t>How do social media usage patterns and demographic information reveal individuals’ political ideology?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76920" y="757453"/>
            <a:ext cx="10028079" cy="5168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20"/>
              </a:lnSpc>
              <a:spcBef>
                <a:spcPct val="0"/>
              </a:spcBef>
            </a:pPr>
            <a:r>
              <a:rPr lang="en-US" b="true" sz="3200">
                <a:solidFill>
                  <a:srgbClr val="000000"/>
                </a:solidFill>
                <a:latin typeface="Avenir Bold"/>
                <a:ea typeface="Avenir Bold"/>
                <a:cs typeface="Avenir Bold"/>
                <a:sym typeface="Avenir Bold"/>
              </a:rPr>
              <a:t>Predicting Political Ideology Using Machine Learning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-1660435" y="1666197"/>
            <a:ext cx="7677707" cy="4953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Research Question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76642" y="3669326"/>
            <a:ext cx="1651992" cy="4953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Literature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97410" y="4412283"/>
            <a:ext cx="6999214" cy="54914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626" indent="-302313" lvl="1">
              <a:lnSpc>
                <a:spcPts val="3920"/>
              </a:lnSpc>
              <a:buFont typeface="Arial"/>
              <a:buChar char="•"/>
            </a:pPr>
            <a:r>
              <a:rPr lang="en-US" sz="2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Beyond Binary Labels: Political Ideology Prediction of Twitter Users (Preotiuc-Pietro et al., 2017)</a:t>
            </a:r>
          </a:p>
          <a:p>
            <a:pPr algn="l" marL="604626" indent="-302313" lvl="1">
              <a:lnSpc>
                <a:spcPts val="3920"/>
              </a:lnSpc>
              <a:buFont typeface="Arial"/>
              <a:buChar char="•"/>
            </a:pPr>
            <a:r>
              <a:rPr lang="en-US" sz="2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Quantifying Social Media’s Political Space: Estimating Ideology from Publicly Revealed Preferences on Facebook (Bond &amp; Messing, 2015) </a:t>
            </a:r>
          </a:p>
          <a:p>
            <a:pPr algn="l" marL="604626" indent="-302313" lvl="1">
              <a:lnSpc>
                <a:spcPts val="3920"/>
              </a:lnSpc>
              <a:buFont typeface="Arial"/>
              <a:buChar char="•"/>
            </a:pPr>
            <a:r>
              <a:rPr lang="en-US" sz="2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Demographics and Personality Discovery on Social Media: A Machine Learning Approach ((Tuomchomtam &amp; Soonthornphisaj, 2021))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3711902" y="5704444"/>
            <a:ext cx="3917752" cy="4953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Machine Learning Task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934346" y="6975754"/>
            <a:ext cx="7695307" cy="9144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Multi-Class Classification </a:t>
            </a:r>
          </a:p>
          <a:p>
            <a:pPr algn="r">
              <a:lnSpc>
                <a:spcPts val="33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(5 Classes: Very Conservative → Very Liberal)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811266" y="8380978"/>
            <a:ext cx="7695307" cy="13335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Models Used: </a:t>
            </a:r>
          </a:p>
          <a:p>
            <a:pPr algn="r">
              <a:lnSpc>
                <a:spcPts val="33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Logistic Regression, Random Forest, XGBoost, Deep Learning (PyTorch)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417556" y="9164276"/>
            <a:ext cx="4102978" cy="2245448"/>
          </a:xfrm>
          <a:custGeom>
            <a:avLst/>
            <a:gdLst/>
            <a:ahLst/>
            <a:cxnLst/>
            <a:rect r="r" b="b" t="t" l="l"/>
            <a:pathLst>
              <a:path h="2245448" w="4102978">
                <a:moveTo>
                  <a:pt x="0" y="0"/>
                </a:moveTo>
                <a:lnTo>
                  <a:pt x="4102979" y="0"/>
                </a:lnTo>
                <a:lnTo>
                  <a:pt x="4102979" y="2245448"/>
                </a:lnTo>
                <a:lnTo>
                  <a:pt x="0" y="224544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345262" y="1132037"/>
            <a:ext cx="10942738" cy="2792404"/>
          </a:xfrm>
          <a:custGeom>
            <a:avLst/>
            <a:gdLst/>
            <a:ahLst/>
            <a:cxnLst/>
            <a:rect r="r" b="b" t="t" l="l"/>
            <a:pathLst>
              <a:path h="2792404" w="10942738">
                <a:moveTo>
                  <a:pt x="0" y="0"/>
                </a:moveTo>
                <a:lnTo>
                  <a:pt x="10942738" y="0"/>
                </a:lnTo>
                <a:lnTo>
                  <a:pt x="10942738" y="2792404"/>
                </a:lnTo>
                <a:lnTo>
                  <a:pt x="0" y="279240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209" r="0" b="-209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7345262" y="5107424"/>
            <a:ext cx="10942738" cy="3022931"/>
          </a:xfrm>
          <a:custGeom>
            <a:avLst/>
            <a:gdLst/>
            <a:ahLst/>
            <a:cxnLst/>
            <a:rect r="r" b="b" t="t" l="l"/>
            <a:pathLst>
              <a:path h="3022931" w="10942738">
                <a:moveTo>
                  <a:pt x="0" y="0"/>
                </a:moveTo>
                <a:lnTo>
                  <a:pt x="10942738" y="0"/>
                </a:lnTo>
                <a:lnTo>
                  <a:pt x="10942738" y="3022931"/>
                </a:lnTo>
                <a:lnTo>
                  <a:pt x="0" y="302293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981075"/>
            <a:ext cx="6726444" cy="7334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50"/>
              </a:lnSpc>
            </a:pPr>
            <a:r>
              <a:rPr lang="en-US" b="true" sz="4500">
                <a:solidFill>
                  <a:srgbClr val="8CA9AD"/>
                </a:solidFill>
                <a:latin typeface="Avenir Bold"/>
                <a:ea typeface="Avenir Bold"/>
                <a:cs typeface="Avenir Bold"/>
                <a:sym typeface="Avenir Bold"/>
              </a:rPr>
              <a:t>PEW ATP WAVE 90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345262" y="563582"/>
            <a:ext cx="5953371" cy="7461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50"/>
              </a:lnSpc>
            </a:pPr>
            <a:r>
              <a:rPr lang="en-US" sz="2500">
                <a:solidFill>
                  <a:srgbClr val="737373"/>
                </a:solidFill>
                <a:latin typeface="Avenir"/>
                <a:ea typeface="Avenir"/>
                <a:cs typeface="Avenir"/>
                <a:sym typeface="Avenir"/>
              </a:rPr>
              <a:t>df.head( )</a:t>
            </a:r>
          </a:p>
          <a:p>
            <a:pPr algn="l">
              <a:lnSpc>
                <a:spcPts val="2750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7345262" y="4519550"/>
            <a:ext cx="7677707" cy="7461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50"/>
              </a:lnSpc>
            </a:pPr>
            <a:r>
              <a:rPr lang="en-US" sz="2500">
                <a:solidFill>
                  <a:srgbClr val="737373"/>
                </a:solidFill>
                <a:latin typeface="Avenir"/>
                <a:ea typeface="Avenir"/>
                <a:cs typeface="Avenir"/>
                <a:sym typeface="Avenir"/>
              </a:rPr>
              <a:t>cleaned_encoded_df.head( )</a:t>
            </a:r>
          </a:p>
          <a:p>
            <a:pPr algn="l">
              <a:lnSpc>
                <a:spcPts val="2750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7345262" y="8406580"/>
            <a:ext cx="7677707" cy="12088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50"/>
              </a:lnSpc>
            </a:pPr>
            <a:r>
              <a:rPr lang="en-US" sz="2500">
                <a:solidFill>
                  <a:srgbClr val="737373"/>
                </a:solidFill>
                <a:latin typeface="Avenir"/>
                <a:ea typeface="Avenir"/>
                <a:cs typeface="Avenir"/>
                <a:sym typeface="Avenir"/>
              </a:rPr>
              <a:t>cleaned_encoded_df.shape( )</a:t>
            </a:r>
          </a:p>
          <a:p>
            <a:pPr algn="l" marL="539858" indent="-269929" lvl="1">
              <a:lnSpc>
                <a:spcPts val="2750"/>
              </a:lnSpc>
              <a:buFont typeface="Arial"/>
              <a:buChar char="•"/>
            </a:pPr>
            <a:r>
              <a:rPr lang="en-US" sz="2500">
                <a:solidFill>
                  <a:srgbClr val="737373"/>
                </a:solidFill>
                <a:latin typeface="Avenir"/>
                <a:ea typeface="Avenir"/>
                <a:cs typeface="Avenir"/>
                <a:sym typeface="Avenir"/>
              </a:rPr>
              <a:t>(2529, 229)</a:t>
            </a:r>
          </a:p>
          <a:p>
            <a:pPr algn="l">
              <a:lnSpc>
                <a:spcPts val="3300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5166063"/>
            <a:ext cx="7677707" cy="3655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0"/>
              </a:lnSpc>
            </a:pPr>
            <a:r>
              <a:rPr lang="en-US" sz="3000" b="true">
                <a:solidFill>
                  <a:srgbClr val="737373"/>
                </a:solidFill>
                <a:latin typeface="Avenir Bold"/>
                <a:ea typeface="Avenir Bold"/>
                <a:cs typeface="Avenir Bold"/>
                <a:sym typeface="Avenir Bold"/>
              </a:rPr>
              <a:t>Features</a:t>
            </a:r>
          </a:p>
          <a:p>
            <a:pPr algn="l">
              <a:lnSpc>
                <a:spcPts val="3300"/>
              </a:lnSpc>
            </a:pPr>
          </a:p>
          <a:p>
            <a:pPr algn="l" marL="647805" indent="-323903" lvl="1">
              <a:lnSpc>
                <a:spcPts val="3300"/>
              </a:lnSpc>
              <a:buFont typeface="Arial"/>
              <a:buChar char="•"/>
            </a:pPr>
            <a:r>
              <a:rPr lang="en-US" sz="3000">
                <a:solidFill>
                  <a:srgbClr val="737373"/>
                </a:solidFill>
                <a:latin typeface="Avenir"/>
                <a:ea typeface="Avenir"/>
                <a:cs typeface="Avenir"/>
                <a:sym typeface="Avenir"/>
              </a:rPr>
              <a:t>116 features</a:t>
            </a:r>
          </a:p>
          <a:p>
            <a:pPr algn="l" marL="1295611" indent="-431870" lvl="2">
              <a:lnSpc>
                <a:spcPts val="3300"/>
              </a:lnSpc>
              <a:buFont typeface="Arial"/>
              <a:buChar char="⚬"/>
            </a:pPr>
            <a:r>
              <a:rPr lang="en-US" sz="3000">
                <a:solidFill>
                  <a:srgbClr val="737373"/>
                </a:solidFill>
                <a:latin typeface="Avenir"/>
                <a:ea typeface="Avenir"/>
                <a:cs typeface="Avenir"/>
                <a:sym typeface="Avenir"/>
              </a:rPr>
              <a:t>social media use</a:t>
            </a:r>
          </a:p>
          <a:p>
            <a:pPr algn="l" marL="1295611" indent="-431870" lvl="2">
              <a:lnSpc>
                <a:spcPts val="3300"/>
              </a:lnSpc>
              <a:buFont typeface="Arial"/>
              <a:buChar char="⚬"/>
            </a:pPr>
            <a:r>
              <a:rPr lang="en-US" sz="3000">
                <a:solidFill>
                  <a:srgbClr val="737373"/>
                </a:solidFill>
                <a:latin typeface="Avenir"/>
                <a:ea typeface="Avenir"/>
                <a:cs typeface="Avenir"/>
                <a:sym typeface="Avenir"/>
              </a:rPr>
              <a:t>demographics</a:t>
            </a:r>
          </a:p>
          <a:p>
            <a:pPr algn="l">
              <a:lnSpc>
                <a:spcPts val="3300"/>
              </a:lnSpc>
            </a:pPr>
          </a:p>
          <a:p>
            <a:pPr algn="l" marL="647805" indent="-323903" lvl="1">
              <a:lnSpc>
                <a:spcPts val="3300"/>
              </a:lnSpc>
              <a:buFont typeface="Arial"/>
              <a:buChar char="•"/>
            </a:pPr>
            <a:r>
              <a:rPr lang="en-US" sz="3000">
                <a:solidFill>
                  <a:srgbClr val="737373"/>
                </a:solidFill>
                <a:latin typeface="Avenir"/>
                <a:ea typeface="Avenir"/>
                <a:cs typeface="Avenir"/>
                <a:sym typeface="Avenir"/>
              </a:rPr>
              <a:t>54 nominal : one-hot encoded</a:t>
            </a:r>
          </a:p>
          <a:p>
            <a:pPr algn="l" marL="647805" indent="-323903" lvl="1">
              <a:lnSpc>
                <a:spcPts val="3300"/>
              </a:lnSpc>
              <a:buFont typeface="Arial"/>
              <a:buChar char="•"/>
            </a:pPr>
            <a:r>
              <a:rPr lang="en-US" sz="3000">
                <a:solidFill>
                  <a:srgbClr val="737373"/>
                </a:solidFill>
                <a:latin typeface="Avenir"/>
                <a:ea typeface="Avenir"/>
                <a:cs typeface="Avenir"/>
                <a:sym typeface="Avenir"/>
              </a:rPr>
              <a:t>62 ordinal: ordinal encoded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2112482"/>
            <a:ext cx="7677707" cy="2307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0"/>
              </a:lnSpc>
            </a:pPr>
            <a:r>
              <a:rPr lang="en-US" sz="3000" b="true">
                <a:solidFill>
                  <a:srgbClr val="737373"/>
                </a:solidFill>
                <a:latin typeface="Avenir Bold"/>
                <a:ea typeface="Avenir Bold"/>
                <a:cs typeface="Avenir Bold"/>
                <a:sym typeface="Avenir Bold"/>
              </a:rPr>
              <a:t>Outcome</a:t>
            </a:r>
          </a:p>
          <a:p>
            <a:pPr algn="l">
              <a:lnSpc>
                <a:spcPts val="3300"/>
              </a:lnSpc>
            </a:pPr>
          </a:p>
          <a:p>
            <a:pPr algn="l" marL="647805" indent="-323903" lvl="1">
              <a:lnSpc>
                <a:spcPts val="3300"/>
              </a:lnSpc>
              <a:buFont typeface="Arial"/>
              <a:buChar char="•"/>
            </a:pPr>
            <a:r>
              <a:rPr lang="en-US" sz="3000">
                <a:solidFill>
                  <a:srgbClr val="737373"/>
                </a:solidFill>
                <a:latin typeface="Avenir"/>
                <a:ea typeface="Avenir"/>
                <a:cs typeface="Avenir"/>
                <a:sym typeface="Avenir"/>
              </a:rPr>
              <a:t>political ideology</a:t>
            </a:r>
          </a:p>
          <a:p>
            <a:pPr algn="l" marL="1295611" indent="-431870" lvl="2">
              <a:lnSpc>
                <a:spcPts val="3300"/>
              </a:lnSpc>
              <a:buFont typeface="Arial"/>
              <a:buChar char="⚬"/>
            </a:pPr>
            <a:r>
              <a:rPr lang="en-US" sz="3000">
                <a:solidFill>
                  <a:srgbClr val="737373"/>
                </a:solidFill>
                <a:latin typeface="Avenir"/>
                <a:ea typeface="Avenir"/>
                <a:cs typeface="Avenir"/>
                <a:sym typeface="Avenir"/>
              </a:rPr>
              <a:t>5 levels</a:t>
            </a:r>
          </a:p>
          <a:p>
            <a:pPr algn="l" marL="1295611" indent="-431870" lvl="2">
              <a:lnSpc>
                <a:spcPts val="3300"/>
              </a:lnSpc>
              <a:buFont typeface="Arial"/>
              <a:buChar char="⚬"/>
            </a:pPr>
            <a:r>
              <a:rPr lang="en-US" sz="3000">
                <a:solidFill>
                  <a:srgbClr val="737373"/>
                </a:solidFill>
                <a:latin typeface="Avenir"/>
                <a:ea typeface="Avenir"/>
                <a:cs typeface="Avenir"/>
                <a:sym typeface="Avenir"/>
              </a:rPr>
              <a:t>ordinal encoded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345262" y="4071872"/>
            <a:ext cx="7337702" cy="8755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4"/>
              </a:lnSpc>
            </a:pPr>
            <a:r>
              <a:rPr lang="en-US" sz="2867">
                <a:solidFill>
                  <a:srgbClr val="737373"/>
                </a:solidFill>
                <a:latin typeface="Avenir"/>
                <a:ea typeface="Avenir"/>
                <a:cs typeface="Avenir"/>
                <a:sym typeface="Avenir"/>
              </a:rPr>
              <a:t>------------------</a:t>
            </a:r>
          </a:p>
          <a:p>
            <a:pPr algn="l">
              <a:lnSpc>
                <a:spcPts val="3154"/>
              </a:lnSpc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768955" y="0"/>
            <a:ext cx="5068803" cy="3801602"/>
          </a:xfrm>
          <a:custGeom>
            <a:avLst/>
            <a:gdLst/>
            <a:ahLst/>
            <a:cxnLst/>
            <a:rect r="r" b="b" t="t" l="l"/>
            <a:pathLst>
              <a:path h="3801602" w="5068803">
                <a:moveTo>
                  <a:pt x="0" y="0"/>
                </a:moveTo>
                <a:lnTo>
                  <a:pt x="5068803" y="0"/>
                </a:lnTo>
                <a:lnTo>
                  <a:pt x="5068803" y="3801602"/>
                </a:lnTo>
                <a:lnTo>
                  <a:pt x="0" y="380160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2062834"/>
            <a:ext cx="7514292" cy="7444836"/>
          </a:xfrm>
          <a:custGeom>
            <a:avLst/>
            <a:gdLst/>
            <a:ahLst/>
            <a:cxnLst/>
            <a:rect r="r" b="b" t="t" l="l"/>
            <a:pathLst>
              <a:path h="7444836" w="7514292">
                <a:moveTo>
                  <a:pt x="0" y="0"/>
                </a:moveTo>
                <a:lnTo>
                  <a:pt x="7514292" y="0"/>
                </a:lnTo>
                <a:lnTo>
                  <a:pt x="7514292" y="7444835"/>
                </a:lnTo>
                <a:lnTo>
                  <a:pt x="0" y="744483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588" t="-5784" r="-5915" b="-3731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981075"/>
            <a:ext cx="9180506" cy="7334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50"/>
              </a:lnSpc>
            </a:pPr>
            <a:r>
              <a:rPr lang="en-US" b="true" sz="4500">
                <a:solidFill>
                  <a:srgbClr val="8CA9AD"/>
                </a:solidFill>
                <a:latin typeface="Avenir Bold"/>
                <a:ea typeface="Avenir Bold"/>
                <a:cs typeface="Avenir Bold"/>
                <a:sym typeface="Avenir Bold"/>
              </a:rPr>
              <a:t>EXPLORATORY DATA ANALYSIS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0096829" y="3801602"/>
            <a:ext cx="7740929" cy="6453999"/>
          </a:xfrm>
          <a:custGeom>
            <a:avLst/>
            <a:gdLst/>
            <a:ahLst/>
            <a:cxnLst/>
            <a:rect r="r" b="b" t="t" l="l"/>
            <a:pathLst>
              <a:path h="6453999" w="7740929">
                <a:moveTo>
                  <a:pt x="0" y="0"/>
                </a:moveTo>
                <a:lnTo>
                  <a:pt x="7740929" y="0"/>
                </a:lnTo>
                <a:lnTo>
                  <a:pt x="7740929" y="6454000"/>
                </a:lnTo>
                <a:lnTo>
                  <a:pt x="0" y="64540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66192" y="3306255"/>
            <a:ext cx="4263033" cy="492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49"/>
              </a:lnSpc>
              <a:spcBef>
                <a:spcPct val="0"/>
              </a:spcBef>
            </a:pPr>
            <a:r>
              <a:rPr lang="en-US" sz="3045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L1 Regularization (Lasso)</a:t>
            </a:r>
          </a:p>
        </p:txBody>
      </p:sp>
      <p:sp>
        <p:nvSpPr>
          <p:cNvPr name="AutoShape 3" id="3"/>
          <p:cNvSpPr/>
          <p:nvPr/>
        </p:nvSpPr>
        <p:spPr>
          <a:xfrm>
            <a:off x="5229225" y="3566835"/>
            <a:ext cx="1857372" cy="969041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TextBox 4" id="4"/>
          <p:cNvSpPr txBox="true"/>
          <p:nvPr/>
        </p:nvSpPr>
        <p:spPr>
          <a:xfrm rot="0">
            <a:off x="7086597" y="4269173"/>
            <a:ext cx="3090862" cy="4953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00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Avenir Bold"/>
                <a:ea typeface="Avenir Bold"/>
                <a:cs typeface="Avenir Bold"/>
                <a:sym typeface="Avenir Bold"/>
              </a:rPr>
              <a:t>Resolve Overfit   </a:t>
            </a:r>
          </a:p>
        </p:txBody>
      </p:sp>
      <p:sp>
        <p:nvSpPr>
          <p:cNvPr name="AutoShape 5" id="5"/>
          <p:cNvSpPr/>
          <p:nvPr/>
        </p:nvSpPr>
        <p:spPr>
          <a:xfrm flipV="true">
            <a:off x="5229225" y="4535876"/>
            <a:ext cx="1857372" cy="954818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12487789" y="2087049"/>
            <a:ext cx="5459110" cy="4244458"/>
          </a:xfrm>
          <a:custGeom>
            <a:avLst/>
            <a:gdLst/>
            <a:ahLst/>
            <a:cxnLst/>
            <a:rect r="r" b="b" t="t" l="l"/>
            <a:pathLst>
              <a:path h="4244458" w="5459110">
                <a:moveTo>
                  <a:pt x="0" y="0"/>
                </a:moveTo>
                <a:lnTo>
                  <a:pt x="5459110" y="0"/>
                </a:lnTo>
                <a:lnTo>
                  <a:pt x="5459110" y="4244458"/>
                </a:lnTo>
                <a:lnTo>
                  <a:pt x="0" y="424445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6025836" y="5910297"/>
            <a:ext cx="5684434" cy="3517243"/>
          </a:xfrm>
          <a:custGeom>
            <a:avLst/>
            <a:gdLst/>
            <a:ahLst/>
            <a:cxnLst/>
            <a:rect r="r" b="b" t="t" l="l"/>
            <a:pathLst>
              <a:path h="3517243" w="5684434">
                <a:moveTo>
                  <a:pt x="0" y="0"/>
                </a:moveTo>
                <a:lnTo>
                  <a:pt x="5684434" y="0"/>
                </a:lnTo>
                <a:lnTo>
                  <a:pt x="5684434" y="3517243"/>
                </a:lnTo>
                <a:lnTo>
                  <a:pt x="0" y="351724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966192" y="7668919"/>
            <a:ext cx="4909286" cy="1589381"/>
          </a:xfrm>
          <a:custGeom>
            <a:avLst/>
            <a:gdLst/>
            <a:ahLst/>
            <a:cxnLst/>
            <a:rect r="r" b="b" t="t" l="l"/>
            <a:pathLst>
              <a:path h="1589381" w="4909286">
                <a:moveTo>
                  <a:pt x="0" y="0"/>
                </a:moveTo>
                <a:lnTo>
                  <a:pt x="4909286" y="0"/>
                </a:lnTo>
                <a:lnTo>
                  <a:pt x="4909286" y="1589381"/>
                </a:lnTo>
                <a:lnTo>
                  <a:pt x="0" y="158938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028700" y="981075"/>
            <a:ext cx="6726444" cy="7334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50"/>
              </a:lnSpc>
            </a:pPr>
            <a:r>
              <a:rPr lang="en-US" sz="4500" b="true">
                <a:solidFill>
                  <a:srgbClr val="8CA9AD"/>
                </a:solidFill>
                <a:latin typeface="Avenir Bold"/>
                <a:ea typeface="Avenir Bold"/>
                <a:cs typeface="Avenir Bold"/>
                <a:sym typeface="Avenir Bold"/>
              </a:rPr>
              <a:t>Logistic Regression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66192" y="5223991"/>
            <a:ext cx="4263033" cy="4953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L2 Regularization (Ridge)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862543" y="6966611"/>
            <a:ext cx="5084356" cy="13335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0"/>
              </a:lnSpc>
            </a:pPr>
          </a:p>
          <a:p>
            <a:pPr algn="l">
              <a:lnSpc>
                <a:spcPts val="3300"/>
              </a:lnSpc>
            </a:pPr>
            <a:r>
              <a:rPr lang="en-US" sz="30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Best-Performing AUC = 0.85</a:t>
            </a:r>
          </a:p>
          <a:p>
            <a:pPr algn="l">
              <a:lnSpc>
                <a:spcPts val="3300"/>
              </a:lnSpc>
              <a:spcBef>
                <a:spcPct val="0"/>
              </a:spcBef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1028700" y="2048949"/>
            <a:ext cx="9148759" cy="9144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Baseline Logistic Regression Model</a:t>
            </a:r>
          </a:p>
          <a:p>
            <a:pPr algn="l">
              <a:lnSpc>
                <a:spcPts val="33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Trained without regularization with accuracy of 0.51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5641257"/>
            <a:ext cx="11235492" cy="4381842"/>
          </a:xfrm>
          <a:custGeom>
            <a:avLst/>
            <a:gdLst/>
            <a:ahLst/>
            <a:cxnLst/>
            <a:rect r="r" b="b" t="t" l="l"/>
            <a:pathLst>
              <a:path h="4381842" w="11235492">
                <a:moveTo>
                  <a:pt x="0" y="0"/>
                </a:moveTo>
                <a:lnTo>
                  <a:pt x="11235492" y="0"/>
                </a:lnTo>
                <a:lnTo>
                  <a:pt x="11235492" y="4381842"/>
                </a:lnTo>
                <a:lnTo>
                  <a:pt x="0" y="438184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309321" y="1371603"/>
            <a:ext cx="7711393" cy="3771897"/>
          </a:xfrm>
          <a:custGeom>
            <a:avLst/>
            <a:gdLst/>
            <a:ahLst/>
            <a:cxnLst/>
            <a:rect r="r" b="b" t="t" l="l"/>
            <a:pathLst>
              <a:path h="3771897" w="7711393">
                <a:moveTo>
                  <a:pt x="0" y="0"/>
                </a:moveTo>
                <a:lnTo>
                  <a:pt x="7711393" y="0"/>
                </a:lnTo>
                <a:lnTo>
                  <a:pt x="7711393" y="3771897"/>
                </a:lnTo>
                <a:lnTo>
                  <a:pt x="0" y="377189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-2221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981075"/>
            <a:ext cx="6726444" cy="7334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50"/>
              </a:lnSpc>
            </a:pPr>
            <a:r>
              <a:rPr lang="en-US" sz="4500" b="true">
                <a:solidFill>
                  <a:srgbClr val="8CA9AD"/>
                </a:solidFill>
                <a:latin typeface="Avenir Bold"/>
                <a:ea typeface="Avenir Bold"/>
                <a:cs typeface="Avenir Bold"/>
                <a:sym typeface="Avenir Bold"/>
              </a:rPr>
              <a:t>Decision Tree Classifier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1871202"/>
            <a:ext cx="7444550" cy="3770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5"/>
              </a:lnSpc>
            </a:pPr>
            <a:r>
              <a:rPr lang="en-US" sz="2104" b="true">
                <a:solidFill>
                  <a:srgbClr val="737373"/>
                </a:solidFill>
                <a:latin typeface="Avenir Bold"/>
                <a:ea typeface="Avenir Bold"/>
                <a:cs typeface="Avenir Bold"/>
                <a:sym typeface="Avenir Bold"/>
              </a:rPr>
              <a:t># hyper-parameter tunning</a:t>
            </a:r>
          </a:p>
          <a:p>
            <a:pPr algn="l">
              <a:lnSpc>
                <a:spcPts val="2315"/>
              </a:lnSpc>
            </a:pPr>
            <a:r>
              <a:rPr lang="en-US" sz="2104">
                <a:solidFill>
                  <a:srgbClr val="737373"/>
                </a:solidFill>
                <a:latin typeface="Avenir"/>
                <a:ea typeface="Avenir"/>
                <a:cs typeface="Avenir"/>
                <a:sym typeface="Avenir"/>
              </a:rPr>
              <a:t>param_dist = {</a:t>
            </a:r>
          </a:p>
          <a:p>
            <a:pPr algn="l">
              <a:lnSpc>
                <a:spcPts val="2315"/>
              </a:lnSpc>
            </a:pPr>
            <a:r>
              <a:rPr lang="en-US" sz="2104">
                <a:solidFill>
                  <a:srgbClr val="737373"/>
                </a:solidFill>
                <a:latin typeface="Avenir"/>
                <a:ea typeface="Avenir"/>
                <a:cs typeface="Avenir"/>
                <a:sym typeface="Avenir"/>
              </a:rPr>
              <a:t> 'max_depth': randint(1, 10),</a:t>
            </a:r>
          </a:p>
          <a:p>
            <a:pPr algn="l">
              <a:lnSpc>
                <a:spcPts val="2315"/>
              </a:lnSpc>
            </a:pPr>
            <a:r>
              <a:rPr lang="en-US" sz="2104">
                <a:solidFill>
                  <a:srgbClr val="737373"/>
                </a:solidFill>
                <a:latin typeface="Avenir"/>
                <a:ea typeface="Avenir"/>
                <a:cs typeface="Avenir"/>
                <a:sym typeface="Avenir"/>
              </a:rPr>
              <a:t> 'min_samples_leaf': randint(1, 10),</a:t>
            </a:r>
          </a:p>
          <a:p>
            <a:pPr algn="l">
              <a:lnSpc>
                <a:spcPts val="2315"/>
              </a:lnSpc>
            </a:pPr>
            <a:r>
              <a:rPr lang="en-US" sz="2104">
                <a:solidFill>
                  <a:srgbClr val="737373"/>
                </a:solidFill>
                <a:latin typeface="Avenir"/>
                <a:ea typeface="Avenir"/>
                <a:cs typeface="Avenir"/>
                <a:sym typeface="Avenir"/>
              </a:rPr>
              <a:t> 'criterion': ['gini', 'entropy']}</a:t>
            </a:r>
          </a:p>
          <a:p>
            <a:pPr algn="l">
              <a:lnSpc>
                <a:spcPts val="2315"/>
              </a:lnSpc>
            </a:pPr>
          </a:p>
          <a:p>
            <a:pPr algn="l">
              <a:lnSpc>
                <a:spcPts val="2315"/>
              </a:lnSpc>
            </a:pPr>
            <a:r>
              <a:rPr lang="en-US" sz="2104">
                <a:solidFill>
                  <a:srgbClr val="737373"/>
                </a:solidFill>
                <a:latin typeface="Avenir"/>
                <a:ea typeface="Avenir"/>
                <a:cs typeface="Avenir"/>
                <a:sym typeface="Avenir"/>
              </a:rPr>
              <a:t>rs = RandomizedSearchCV(dt_clf, param_dist, n_iter=100, cv=5, random_state=SEED)</a:t>
            </a:r>
          </a:p>
          <a:p>
            <a:pPr algn="l">
              <a:lnSpc>
                <a:spcPts val="2315"/>
              </a:lnSpc>
            </a:pPr>
            <a:r>
              <a:rPr lang="en-US" sz="2104">
                <a:solidFill>
                  <a:srgbClr val="737373"/>
                </a:solidFill>
                <a:latin typeface="Avenir"/>
                <a:ea typeface="Avenir"/>
                <a:cs typeface="Avenir"/>
                <a:sym typeface="Avenir"/>
              </a:rPr>
              <a:t>rs.fit(X_train, y_train)</a:t>
            </a:r>
          </a:p>
          <a:p>
            <a:pPr algn="l">
              <a:lnSpc>
                <a:spcPts val="2315"/>
              </a:lnSpc>
            </a:pPr>
          </a:p>
          <a:p>
            <a:pPr algn="l">
              <a:lnSpc>
                <a:spcPts val="2315"/>
              </a:lnSpc>
            </a:pPr>
            <a:r>
              <a:rPr lang="en-US" sz="2104" b="true">
                <a:solidFill>
                  <a:srgbClr val="737373"/>
                </a:solidFill>
                <a:latin typeface="Avenir Bold"/>
                <a:ea typeface="Avenir Bold"/>
                <a:cs typeface="Avenir Bold"/>
                <a:sym typeface="Avenir Bold"/>
              </a:rPr>
              <a:t># best hyperparameters</a:t>
            </a:r>
          </a:p>
          <a:p>
            <a:pPr algn="l">
              <a:lnSpc>
                <a:spcPts val="2315"/>
              </a:lnSpc>
            </a:pPr>
            <a:r>
              <a:rPr lang="en-US" sz="2104">
                <a:solidFill>
                  <a:srgbClr val="737373"/>
                </a:solidFill>
                <a:latin typeface="Avenir"/>
                <a:ea typeface="Avenir"/>
                <a:cs typeface="Avenir"/>
                <a:sym typeface="Avenir"/>
              </a:rPr>
              <a:t>{'criterion': 'gini', 'max_depth': 6, 'min_samples_leaf': 4}</a:t>
            </a:r>
          </a:p>
          <a:p>
            <a:pPr algn="l">
              <a:lnSpc>
                <a:spcPts val="2315"/>
              </a:lnSpc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2540283"/>
            <a:ext cx="16517615" cy="6194106"/>
          </a:xfrm>
          <a:custGeom>
            <a:avLst/>
            <a:gdLst/>
            <a:ahLst/>
            <a:cxnLst/>
            <a:rect r="r" b="b" t="t" l="l"/>
            <a:pathLst>
              <a:path h="6194106" w="16517615">
                <a:moveTo>
                  <a:pt x="0" y="0"/>
                </a:moveTo>
                <a:lnTo>
                  <a:pt x="16517615" y="0"/>
                </a:lnTo>
                <a:lnTo>
                  <a:pt x="16517615" y="6194105"/>
                </a:lnTo>
                <a:lnTo>
                  <a:pt x="0" y="619410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981075"/>
            <a:ext cx="6726444" cy="7334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50"/>
              </a:lnSpc>
            </a:pPr>
            <a:r>
              <a:rPr lang="en-US" sz="4500" b="true">
                <a:solidFill>
                  <a:srgbClr val="8CA9AD"/>
                </a:solidFill>
                <a:latin typeface="Avenir Bold"/>
                <a:ea typeface="Avenir Bold"/>
                <a:cs typeface="Avenir Bold"/>
                <a:sym typeface="Avenir Bold"/>
              </a:rPr>
              <a:t>Decision Tree Classifier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794761" y="490533"/>
            <a:ext cx="9464539" cy="9305934"/>
          </a:xfrm>
          <a:custGeom>
            <a:avLst/>
            <a:gdLst/>
            <a:ahLst/>
            <a:cxnLst/>
            <a:rect r="r" b="b" t="t" l="l"/>
            <a:pathLst>
              <a:path h="9305934" w="9464539">
                <a:moveTo>
                  <a:pt x="0" y="0"/>
                </a:moveTo>
                <a:lnTo>
                  <a:pt x="9464539" y="0"/>
                </a:lnTo>
                <a:lnTo>
                  <a:pt x="9464539" y="9305934"/>
                </a:lnTo>
                <a:lnTo>
                  <a:pt x="0" y="930593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21984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981075"/>
            <a:ext cx="6726444" cy="7334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50"/>
              </a:lnSpc>
            </a:pPr>
            <a:r>
              <a:rPr lang="en-US" sz="4500" b="true">
                <a:solidFill>
                  <a:srgbClr val="8CA9AD"/>
                </a:solidFill>
                <a:latin typeface="Avenir Bold"/>
                <a:ea typeface="Avenir Bold"/>
                <a:cs typeface="Avenir Bold"/>
                <a:sym typeface="Avenir Bold"/>
              </a:rPr>
              <a:t>Random Forest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2106254"/>
            <a:ext cx="6726444" cy="66275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5"/>
              </a:lnSpc>
            </a:pPr>
            <a:r>
              <a:rPr lang="en-US" sz="2104" b="true">
                <a:solidFill>
                  <a:srgbClr val="737373"/>
                </a:solidFill>
                <a:latin typeface="Avenir Bold"/>
                <a:ea typeface="Avenir Bold"/>
                <a:cs typeface="Avenir Bold"/>
                <a:sym typeface="Avenir Bold"/>
              </a:rPr>
              <a:t># hyper-parameter tuning w/ randomized search</a:t>
            </a:r>
          </a:p>
          <a:p>
            <a:pPr algn="l">
              <a:lnSpc>
                <a:spcPts val="2315"/>
              </a:lnSpc>
            </a:pPr>
            <a:r>
              <a:rPr lang="en-US" sz="2104">
                <a:solidFill>
                  <a:srgbClr val="737373"/>
                </a:solidFill>
                <a:latin typeface="Avenir"/>
                <a:ea typeface="Avenir"/>
                <a:cs typeface="Avenir"/>
                <a:sym typeface="Avenir"/>
              </a:rPr>
              <a:t>param_dist = {</a:t>
            </a:r>
          </a:p>
          <a:p>
            <a:pPr algn="l">
              <a:lnSpc>
                <a:spcPts val="2315"/>
              </a:lnSpc>
            </a:pPr>
            <a:r>
              <a:rPr lang="en-US" sz="2104">
                <a:solidFill>
                  <a:srgbClr val="737373"/>
                </a:solidFill>
                <a:latin typeface="Avenir"/>
                <a:ea typeface="Avenir"/>
                <a:cs typeface="Avenir"/>
                <a:sym typeface="Avenir"/>
              </a:rPr>
              <a:t> 'n_estimators': randint(128, 2048),</a:t>
            </a:r>
          </a:p>
          <a:p>
            <a:pPr algn="l">
              <a:lnSpc>
                <a:spcPts val="2315"/>
              </a:lnSpc>
            </a:pPr>
            <a:r>
              <a:rPr lang="en-US" sz="2104">
                <a:solidFill>
                  <a:srgbClr val="737373"/>
                </a:solidFill>
                <a:latin typeface="Avenir"/>
                <a:ea typeface="Avenir"/>
                <a:cs typeface="Avenir"/>
                <a:sym typeface="Avenir"/>
              </a:rPr>
              <a:t> 'max_depth': randint(1, 20),</a:t>
            </a:r>
          </a:p>
          <a:p>
            <a:pPr algn="l">
              <a:lnSpc>
                <a:spcPts val="2315"/>
              </a:lnSpc>
            </a:pPr>
            <a:r>
              <a:rPr lang="en-US" sz="2104">
                <a:solidFill>
                  <a:srgbClr val="737373"/>
                </a:solidFill>
                <a:latin typeface="Avenir"/>
                <a:ea typeface="Avenir"/>
                <a:cs typeface="Avenir"/>
                <a:sym typeface="Avenir"/>
              </a:rPr>
              <a:t> 'min_samples_leaf': randint(1, 20),</a:t>
            </a:r>
          </a:p>
          <a:p>
            <a:pPr algn="l">
              <a:lnSpc>
                <a:spcPts val="2315"/>
              </a:lnSpc>
            </a:pPr>
            <a:r>
              <a:rPr lang="en-US" sz="2104">
                <a:solidFill>
                  <a:srgbClr val="737373"/>
                </a:solidFill>
                <a:latin typeface="Avenir"/>
                <a:ea typeface="Avenir"/>
                <a:cs typeface="Avenir"/>
                <a:sym typeface="Avenir"/>
              </a:rPr>
              <a:t> 'criterion': ['gini', 'entropy']}</a:t>
            </a:r>
          </a:p>
          <a:p>
            <a:pPr algn="l">
              <a:lnSpc>
                <a:spcPts val="2315"/>
              </a:lnSpc>
            </a:pPr>
          </a:p>
          <a:p>
            <a:pPr algn="l">
              <a:lnSpc>
                <a:spcPts val="2315"/>
              </a:lnSpc>
            </a:pPr>
            <a:r>
              <a:rPr lang="en-US" sz="2104">
                <a:solidFill>
                  <a:srgbClr val="737373"/>
                </a:solidFill>
                <a:latin typeface="Avenir"/>
                <a:ea typeface="Avenir"/>
                <a:cs typeface="Avenir"/>
                <a:sym typeface="Avenir"/>
              </a:rPr>
              <a:t>rs = RandomizedSearchCV(rf_clf, param_dist, </a:t>
            </a:r>
          </a:p>
          <a:p>
            <a:pPr algn="l">
              <a:lnSpc>
                <a:spcPts val="2315"/>
              </a:lnSpc>
            </a:pPr>
            <a:r>
              <a:rPr lang="en-US" sz="2104">
                <a:solidFill>
                  <a:srgbClr val="737373"/>
                </a:solidFill>
                <a:latin typeface="Avenir"/>
                <a:ea typeface="Avenir"/>
                <a:cs typeface="Avenir"/>
                <a:sym typeface="Avenir"/>
              </a:rPr>
              <a:t>n_iter=8, cv=5, random_state=SEED, n_jobs=3)</a:t>
            </a:r>
          </a:p>
          <a:p>
            <a:pPr algn="l">
              <a:lnSpc>
                <a:spcPts val="2315"/>
              </a:lnSpc>
            </a:pPr>
            <a:r>
              <a:rPr lang="en-US" sz="2104">
                <a:solidFill>
                  <a:srgbClr val="737373"/>
                </a:solidFill>
                <a:latin typeface="Avenir"/>
                <a:ea typeface="Avenir"/>
                <a:cs typeface="Avenir"/>
                <a:sym typeface="Avenir"/>
              </a:rPr>
              <a:t>rs.fit(X_train, y_train)</a:t>
            </a:r>
          </a:p>
          <a:p>
            <a:pPr algn="l">
              <a:lnSpc>
                <a:spcPts val="2315"/>
              </a:lnSpc>
            </a:pPr>
          </a:p>
          <a:p>
            <a:pPr algn="l">
              <a:lnSpc>
                <a:spcPts val="2315"/>
              </a:lnSpc>
            </a:pPr>
            <a:r>
              <a:rPr lang="en-US" sz="2104" b="true">
                <a:solidFill>
                  <a:srgbClr val="737373"/>
                </a:solidFill>
                <a:latin typeface="Avenir Bold"/>
                <a:ea typeface="Avenir Bold"/>
                <a:cs typeface="Avenir Bold"/>
                <a:sym typeface="Avenir Bold"/>
              </a:rPr>
              <a:t># best hyperparameters</a:t>
            </a:r>
          </a:p>
          <a:p>
            <a:pPr algn="l">
              <a:lnSpc>
                <a:spcPts val="2315"/>
              </a:lnSpc>
            </a:pPr>
            <a:r>
              <a:rPr lang="en-US" sz="2104">
                <a:solidFill>
                  <a:srgbClr val="737373"/>
                </a:solidFill>
                <a:latin typeface="Avenir"/>
                <a:ea typeface="Avenir"/>
                <a:cs typeface="Avenir"/>
                <a:sym typeface="Avenir"/>
              </a:rPr>
              <a:t>{'criterion': 'entropy', 'max_depth': 14, </a:t>
            </a:r>
          </a:p>
          <a:p>
            <a:pPr algn="l">
              <a:lnSpc>
                <a:spcPts val="2315"/>
              </a:lnSpc>
            </a:pPr>
            <a:r>
              <a:rPr lang="en-US" sz="2104">
                <a:solidFill>
                  <a:srgbClr val="737373"/>
                </a:solidFill>
                <a:latin typeface="Avenir"/>
                <a:ea typeface="Avenir"/>
                <a:cs typeface="Avenir"/>
                <a:sym typeface="Avenir"/>
              </a:rPr>
              <a:t>'min_samples_leaf': 13, 'n_estimators': 1473}</a:t>
            </a:r>
          </a:p>
          <a:p>
            <a:pPr algn="l">
              <a:lnSpc>
                <a:spcPts val="2315"/>
              </a:lnSpc>
            </a:pPr>
          </a:p>
          <a:p>
            <a:pPr algn="l">
              <a:lnSpc>
                <a:spcPts val="2315"/>
              </a:lnSpc>
            </a:pPr>
            <a:r>
              <a:rPr lang="en-US" sz="2104" b="true">
                <a:solidFill>
                  <a:srgbClr val="737373"/>
                </a:solidFill>
                <a:latin typeface="Avenir Bold"/>
                <a:ea typeface="Avenir Bold"/>
                <a:cs typeface="Avenir Bold"/>
                <a:sym typeface="Avenir Bold"/>
              </a:rPr>
              <a:t># accuracy</a:t>
            </a:r>
          </a:p>
          <a:p>
            <a:pPr algn="l">
              <a:lnSpc>
                <a:spcPts val="2315"/>
              </a:lnSpc>
            </a:pPr>
            <a:r>
              <a:rPr lang="en-US" sz="2104">
                <a:solidFill>
                  <a:srgbClr val="737373"/>
                </a:solidFill>
                <a:latin typeface="Avenir"/>
                <a:ea typeface="Avenir"/>
                <a:cs typeface="Avenir"/>
                <a:sym typeface="Avenir"/>
              </a:rPr>
              <a:t>best_rf.score(X_test, y_test)</a:t>
            </a:r>
          </a:p>
          <a:p>
            <a:pPr algn="l">
              <a:lnSpc>
                <a:spcPts val="2315"/>
              </a:lnSpc>
            </a:pPr>
            <a:r>
              <a:rPr lang="en-US" sz="2104">
                <a:solidFill>
                  <a:srgbClr val="737373"/>
                </a:solidFill>
                <a:latin typeface="Avenir"/>
                <a:ea typeface="Avenir"/>
                <a:cs typeface="Avenir"/>
                <a:sym typeface="Avenir"/>
              </a:rPr>
              <a:t>0.595</a:t>
            </a:r>
          </a:p>
          <a:p>
            <a:pPr algn="l">
              <a:lnSpc>
                <a:spcPts val="2315"/>
              </a:lnSpc>
            </a:pPr>
          </a:p>
          <a:p>
            <a:pPr algn="l">
              <a:lnSpc>
                <a:spcPts val="2315"/>
              </a:lnSpc>
            </a:pPr>
          </a:p>
          <a:p>
            <a:pPr algn="l">
              <a:lnSpc>
                <a:spcPts val="2315"/>
              </a:lnSpc>
            </a:pPr>
          </a:p>
          <a:p>
            <a:pPr algn="l">
              <a:lnSpc>
                <a:spcPts val="2315"/>
              </a:lnSpc>
            </a:pPr>
          </a:p>
          <a:p>
            <a:pPr algn="l">
              <a:lnSpc>
                <a:spcPts val="2315"/>
              </a:lnSpc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1879599"/>
            <a:ext cx="3672725" cy="7631774"/>
          </a:xfrm>
          <a:custGeom>
            <a:avLst/>
            <a:gdLst/>
            <a:ahLst/>
            <a:cxnLst/>
            <a:rect r="r" b="b" t="t" l="l"/>
            <a:pathLst>
              <a:path h="7631774" w="3672725">
                <a:moveTo>
                  <a:pt x="0" y="0"/>
                </a:moveTo>
                <a:lnTo>
                  <a:pt x="3672725" y="0"/>
                </a:lnTo>
                <a:lnTo>
                  <a:pt x="3672725" y="7631774"/>
                </a:lnTo>
                <a:lnTo>
                  <a:pt x="0" y="763177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55328" t="0" r="-141418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133236" y="1183032"/>
            <a:ext cx="4690070" cy="4036604"/>
          </a:xfrm>
          <a:custGeom>
            <a:avLst/>
            <a:gdLst/>
            <a:ahLst/>
            <a:cxnLst/>
            <a:rect r="r" b="b" t="t" l="l"/>
            <a:pathLst>
              <a:path h="4036604" w="4690070">
                <a:moveTo>
                  <a:pt x="0" y="0"/>
                </a:moveTo>
                <a:lnTo>
                  <a:pt x="4690070" y="0"/>
                </a:lnTo>
                <a:lnTo>
                  <a:pt x="4690070" y="4036603"/>
                </a:lnTo>
                <a:lnTo>
                  <a:pt x="0" y="403660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1224872" y="5366756"/>
            <a:ext cx="5758044" cy="3891544"/>
          </a:xfrm>
          <a:custGeom>
            <a:avLst/>
            <a:gdLst/>
            <a:ahLst/>
            <a:cxnLst/>
            <a:rect r="r" b="b" t="t" l="l"/>
            <a:pathLst>
              <a:path h="3891544" w="5758044">
                <a:moveTo>
                  <a:pt x="0" y="0"/>
                </a:moveTo>
                <a:lnTo>
                  <a:pt x="5758044" y="0"/>
                </a:lnTo>
                <a:lnTo>
                  <a:pt x="5758044" y="3891544"/>
                </a:lnTo>
                <a:lnTo>
                  <a:pt x="0" y="389154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981075"/>
            <a:ext cx="6726444" cy="7334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50"/>
              </a:lnSpc>
            </a:pPr>
            <a:r>
              <a:rPr lang="en-US" sz="4500" b="true">
                <a:solidFill>
                  <a:srgbClr val="8CA9AD"/>
                </a:solidFill>
                <a:latin typeface="Avenir Bold"/>
                <a:ea typeface="Avenir Bold"/>
                <a:cs typeface="Avenir Bold"/>
                <a:sym typeface="Avenir Bold"/>
              </a:rPr>
              <a:t>Neural Network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5054368" y="4683572"/>
            <a:ext cx="6726444" cy="3164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65"/>
              </a:lnSpc>
            </a:pPr>
            <a:r>
              <a:rPr lang="en-US" sz="2604" b="true">
                <a:solidFill>
                  <a:srgbClr val="2B2C30"/>
                </a:solidFill>
                <a:latin typeface="Avenir Bold"/>
                <a:ea typeface="Avenir Bold"/>
                <a:cs typeface="Avenir Bold"/>
                <a:sym typeface="Avenir Bold"/>
              </a:rPr>
              <a:t>Hyperparameter Search</a:t>
            </a:r>
          </a:p>
          <a:p>
            <a:pPr algn="l">
              <a:lnSpc>
                <a:spcPts val="2425"/>
              </a:lnSpc>
            </a:pPr>
          </a:p>
          <a:p>
            <a:pPr algn="l" marL="476003" indent="-238001" lvl="1">
              <a:lnSpc>
                <a:spcPts val="2425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204" strike="noStrike" u="none">
                <a:solidFill>
                  <a:srgbClr val="737373"/>
                </a:solidFill>
                <a:latin typeface="Avenir Bold"/>
                <a:ea typeface="Avenir Bold"/>
                <a:cs typeface="Avenir Bold"/>
                <a:sym typeface="Avenir Bold"/>
              </a:rPr>
              <a:t>Hidden Dimension: </a:t>
            </a:r>
            <a:r>
              <a:rPr lang="en-US" b="true" sz="2204" strike="noStrike" u="none">
                <a:solidFill>
                  <a:srgbClr val="000000"/>
                </a:solidFill>
                <a:latin typeface="Avenir Bold"/>
                <a:ea typeface="Avenir Bold"/>
                <a:cs typeface="Avenir Bold"/>
                <a:sym typeface="Avenir Bold"/>
              </a:rPr>
              <a:t>64</a:t>
            </a:r>
            <a:r>
              <a:rPr lang="en-US" b="true" sz="2204" strike="noStrike" u="none">
                <a:solidFill>
                  <a:srgbClr val="737373"/>
                </a:solidFill>
                <a:latin typeface="Avenir Bold"/>
                <a:ea typeface="Avenir Bold"/>
                <a:cs typeface="Avenir Bold"/>
                <a:sym typeface="Avenir Bold"/>
              </a:rPr>
              <a:t>, 128, 256</a:t>
            </a:r>
          </a:p>
          <a:p>
            <a:pPr algn="l" marL="476003" indent="-238001" lvl="1">
              <a:lnSpc>
                <a:spcPts val="2425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204" strike="noStrike" u="none">
                <a:solidFill>
                  <a:srgbClr val="737373"/>
                </a:solidFill>
                <a:latin typeface="Avenir Bold"/>
                <a:ea typeface="Avenir Bold"/>
                <a:cs typeface="Avenir Bold"/>
                <a:sym typeface="Avenir Bold"/>
              </a:rPr>
              <a:t>Dropout: 0.0, </a:t>
            </a:r>
            <a:r>
              <a:rPr lang="en-US" b="true" sz="2204" strike="noStrike" u="none">
                <a:solidFill>
                  <a:srgbClr val="000000"/>
                </a:solidFill>
                <a:latin typeface="Avenir Bold"/>
                <a:ea typeface="Avenir Bold"/>
                <a:cs typeface="Avenir Bold"/>
                <a:sym typeface="Avenir Bold"/>
              </a:rPr>
              <a:t>0.5</a:t>
            </a:r>
            <a:r>
              <a:rPr lang="en-US" b="true" sz="2204" strike="noStrike" u="none">
                <a:solidFill>
                  <a:srgbClr val="737373"/>
                </a:solidFill>
                <a:latin typeface="Avenir Bold"/>
                <a:ea typeface="Avenir Bold"/>
                <a:cs typeface="Avenir Bold"/>
                <a:sym typeface="Avenir Bold"/>
              </a:rPr>
              <a:t>, 0.6</a:t>
            </a:r>
          </a:p>
          <a:p>
            <a:pPr algn="l" marL="476003" indent="-238001" lvl="1">
              <a:lnSpc>
                <a:spcPts val="2425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204" strike="noStrike" u="none">
                <a:solidFill>
                  <a:srgbClr val="737373"/>
                </a:solidFill>
                <a:latin typeface="Avenir Bold"/>
                <a:ea typeface="Avenir Bold"/>
                <a:cs typeface="Avenir Bold"/>
                <a:sym typeface="Avenir Bold"/>
              </a:rPr>
              <a:t>Activation: </a:t>
            </a:r>
            <a:r>
              <a:rPr lang="en-US" b="true" sz="2204" strike="noStrike" u="none">
                <a:solidFill>
                  <a:srgbClr val="000000"/>
                </a:solidFill>
                <a:latin typeface="Avenir Bold"/>
                <a:ea typeface="Avenir Bold"/>
                <a:cs typeface="Avenir Bold"/>
                <a:sym typeface="Avenir Bold"/>
              </a:rPr>
              <a:t>ReLU</a:t>
            </a:r>
            <a:r>
              <a:rPr lang="en-US" b="true" sz="2204" strike="noStrike" u="none">
                <a:solidFill>
                  <a:srgbClr val="737373"/>
                </a:solidFill>
                <a:latin typeface="Avenir Bold"/>
                <a:ea typeface="Avenir Bold"/>
                <a:cs typeface="Avenir Bold"/>
                <a:sym typeface="Avenir Bold"/>
              </a:rPr>
              <a:t>, GELU</a:t>
            </a:r>
          </a:p>
          <a:p>
            <a:pPr algn="l" marL="476003" indent="-238001" lvl="1">
              <a:lnSpc>
                <a:spcPts val="2425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204" strike="noStrike" u="none">
                <a:solidFill>
                  <a:srgbClr val="737373"/>
                </a:solidFill>
                <a:latin typeface="Avenir Bold"/>
                <a:ea typeface="Avenir Bold"/>
                <a:cs typeface="Avenir Bold"/>
                <a:sym typeface="Avenir Bold"/>
              </a:rPr>
              <a:t>Learning Rate: </a:t>
            </a:r>
            <a:r>
              <a:rPr lang="en-US" b="true" sz="2204" strike="noStrike" u="none">
                <a:solidFill>
                  <a:srgbClr val="000000"/>
                </a:solidFill>
                <a:latin typeface="Avenir Bold"/>
                <a:ea typeface="Avenir Bold"/>
                <a:cs typeface="Avenir Bold"/>
                <a:sym typeface="Avenir Bold"/>
              </a:rPr>
              <a:t>0.001</a:t>
            </a:r>
            <a:r>
              <a:rPr lang="en-US" b="true" sz="2204" strike="noStrike" u="none">
                <a:solidFill>
                  <a:srgbClr val="737373"/>
                </a:solidFill>
                <a:latin typeface="Avenir Bold"/>
                <a:ea typeface="Avenir Bold"/>
                <a:cs typeface="Avenir Bold"/>
                <a:sym typeface="Avenir Bold"/>
              </a:rPr>
              <a:t>, 0.0005, 0.0001</a:t>
            </a:r>
          </a:p>
          <a:p>
            <a:pPr algn="l" marL="476003" indent="-238001" lvl="1">
              <a:lnSpc>
                <a:spcPts val="2425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204" strike="noStrike" u="none">
                <a:solidFill>
                  <a:srgbClr val="737373"/>
                </a:solidFill>
                <a:latin typeface="Avenir Bold"/>
                <a:ea typeface="Avenir Bold"/>
                <a:cs typeface="Avenir Bold"/>
                <a:sym typeface="Avenir Bold"/>
              </a:rPr>
              <a:t>Batch Size: </a:t>
            </a:r>
            <a:r>
              <a:rPr lang="en-US" b="true" sz="2204" strike="noStrike" u="none">
                <a:solidFill>
                  <a:srgbClr val="000000"/>
                </a:solidFill>
                <a:latin typeface="Avenir Bold"/>
                <a:ea typeface="Avenir Bold"/>
                <a:cs typeface="Avenir Bold"/>
                <a:sym typeface="Avenir Bold"/>
              </a:rPr>
              <a:t>32</a:t>
            </a:r>
            <a:r>
              <a:rPr lang="en-US" b="true" sz="2204" strike="noStrike" u="none">
                <a:solidFill>
                  <a:srgbClr val="737373"/>
                </a:solidFill>
                <a:latin typeface="Avenir Bold"/>
                <a:ea typeface="Avenir Bold"/>
                <a:cs typeface="Avenir Bold"/>
                <a:sym typeface="Avenir Bold"/>
              </a:rPr>
              <a:t>, 64, 128</a:t>
            </a:r>
          </a:p>
          <a:p>
            <a:pPr algn="l" marL="476003" indent="-238001" lvl="1">
              <a:lnSpc>
                <a:spcPts val="2425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204" strike="noStrike" u="none">
                <a:solidFill>
                  <a:srgbClr val="737373"/>
                </a:solidFill>
                <a:latin typeface="Avenir Bold"/>
                <a:ea typeface="Avenir Bold"/>
                <a:cs typeface="Avenir Bold"/>
                <a:sym typeface="Avenir Bold"/>
              </a:rPr>
              <a:t>Height: </a:t>
            </a:r>
            <a:r>
              <a:rPr lang="en-US" b="true" sz="2204" strike="noStrike" u="none">
                <a:solidFill>
                  <a:srgbClr val="000000"/>
                </a:solidFill>
                <a:latin typeface="Avenir Bold"/>
                <a:ea typeface="Avenir Bold"/>
                <a:cs typeface="Avenir Bold"/>
                <a:sym typeface="Avenir Bold"/>
              </a:rPr>
              <a:t>2</a:t>
            </a:r>
            <a:r>
              <a:rPr lang="en-US" b="true" sz="2204" strike="noStrike" u="none">
                <a:solidFill>
                  <a:srgbClr val="737373"/>
                </a:solidFill>
                <a:latin typeface="Avenir Bold"/>
                <a:ea typeface="Avenir Bold"/>
                <a:cs typeface="Avenir Bold"/>
                <a:sym typeface="Avenir Bold"/>
              </a:rPr>
              <a:t>, 3, 4</a:t>
            </a:r>
          </a:p>
          <a:p>
            <a:pPr algn="l" marL="476003" indent="-238001" lvl="1">
              <a:lnSpc>
                <a:spcPts val="2425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204" strike="noStrike" u="none">
                <a:solidFill>
                  <a:srgbClr val="737373"/>
                </a:solidFill>
                <a:latin typeface="Avenir Bold"/>
                <a:ea typeface="Avenir Bold"/>
                <a:cs typeface="Avenir Bold"/>
                <a:sym typeface="Avenir Bold"/>
              </a:rPr>
              <a:t>Use BatchNorm: True, </a:t>
            </a:r>
            <a:r>
              <a:rPr lang="en-US" b="true" sz="2204" strike="noStrike" u="none">
                <a:solidFill>
                  <a:srgbClr val="000000"/>
                </a:solidFill>
                <a:latin typeface="Avenir Bold"/>
                <a:ea typeface="Avenir Bold"/>
                <a:cs typeface="Avenir Bold"/>
                <a:sym typeface="Avenir Bold"/>
              </a:rPr>
              <a:t>False</a:t>
            </a:r>
          </a:p>
          <a:p>
            <a:pPr algn="l" marL="476003" indent="-238001" lvl="1">
              <a:lnSpc>
                <a:spcPts val="2425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204" strike="noStrike" u="none">
                <a:solidFill>
                  <a:srgbClr val="737373"/>
                </a:solidFill>
                <a:latin typeface="Avenir Bold"/>
                <a:ea typeface="Avenir Bold"/>
                <a:cs typeface="Avenir Bold"/>
                <a:sym typeface="Avenir Bold"/>
              </a:rPr>
              <a:t>Weight Decay: 0.0, 0.0001, 0.0005, </a:t>
            </a:r>
            <a:r>
              <a:rPr lang="en-US" b="true" sz="2204" strike="noStrike" u="none">
                <a:solidFill>
                  <a:srgbClr val="000000"/>
                </a:solidFill>
                <a:latin typeface="Avenir Bold"/>
                <a:ea typeface="Avenir Bold"/>
                <a:cs typeface="Avenir Bold"/>
                <a:sym typeface="Avenir Bold"/>
              </a:rPr>
              <a:t>0.001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054368" y="2200886"/>
            <a:ext cx="6726444" cy="2249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65"/>
              </a:lnSpc>
            </a:pPr>
            <a:r>
              <a:rPr lang="en-US" sz="2604" b="true">
                <a:solidFill>
                  <a:srgbClr val="2B2C30"/>
                </a:solidFill>
                <a:latin typeface="Avenir Bold"/>
                <a:ea typeface="Avenir Bold"/>
                <a:cs typeface="Avenir Bold"/>
                <a:sym typeface="Avenir Bold"/>
              </a:rPr>
              <a:t>Model Architecture</a:t>
            </a:r>
          </a:p>
          <a:p>
            <a:pPr algn="l">
              <a:lnSpc>
                <a:spcPts val="2425"/>
              </a:lnSpc>
            </a:pPr>
          </a:p>
          <a:p>
            <a:pPr algn="l" marL="476003" indent="-238001" lvl="1">
              <a:lnSpc>
                <a:spcPts val="2425"/>
              </a:lnSpc>
              <a:buFont typeface="Arial"/>
              <a:buChar char="•"/>
            </a:pPr>
            <a:r>
              <a:rPr lang="en-US" b="true" sz="2204">
                <a:solidFill>
                  <a:srgbClr val="737373"/>
                </a:solidFill>
                <a:latin typeface="Avenir Bold"/>
                <a:ea typeface="Avenir Bold"/>
                <a:cs typeface="Avenir Bold"/>
                <a:sym typeface="Avenir Bold"/>
              </a:rPr>
              <a:t>Linear Projection</a:t>
            </a:r>
          </a:p>
          <a:p>
            <a:pPr algn="l" marL="476003" indent="-238001" lvl="1">
              <a:lnSpc>
                <a:spcPts val="2425"/>
              </a:lnSpc>
              <a:buFont typeface="Arial"/>
              <a:buChar char="•"/>
            </a:pPr>
            <a:r>
              <a:rPr lang="en-US" b="true" sz="2204">
                <a:solidFill>
                  <a:srgbClr val="737373"/>
                </a:solidFill>
                <a:latin typeface="Avenir Bold"/>
                <a:ea typeface="Avenir Bold"/>
                <a:cs typeface="Avenir Bold"/>
                <a:sym typeface="Avenir Bold"/>
              </a:rPr>
              <a:t>Residual Block x2</a:t>
            </a:r>
          </a:p>
          <a:p>
            <a:pPr algn="l" marL="952006" indent="-317335" lvl="2">
              <a:lnSpc>
                <a:spcPts val="2425"/>
              </a:lnSpc>
              <a:buFont typeface="Arial"/>
              <a:buChar char="⚬"/>
            </a:pPr>
            <a:r>
              <a:rPr lang="en-US" b="true" sz="2204">
                <a:solidFill>
                  <a:srgbClr val="737373"/>
                </a:solidFill>
                <a:latin typeface="Avenir Bold"/>
                <a:ea typeface="Avenir Bold"/>
                <a:cs typeface="Avenir Bold"/>
                <a:sym typeface="Avenir Bold"/>
              </a:rPr>
              <a:t>Linear Layer x2</a:t>
            </a:r>
          </a:p>
          <a:p>
            <a:pPr algn="l" marL="952006" indent="-317335" lvl="2">
              <a:lnSpc>
                <a:spcPts val="2425"/>
              </a:lnSpc>
              <a:buFont typeface="Arial"/>
              <a:buChar char="⚬"/>
            </a:pPr>
            <a:r>
              <a:rPr lang="en-US" b="true" sz="2204">
                <a:solidFill>
                  <a:srgbClr val="737373"/>
                </a:solidFill>
                <a:latin typeface="Avenir Bold"/>
                <a:ea typeface="Avenir Bold"/>
                <a:cs typeface="Avenir Bold"/>
                <a:sym typeface="Avenir Bold"/>
              </a:rPr>
              <a:t>Skip Connection (Add)</a:t>
            </a:r>
          </a:p>
          <a:p>
            <a:pPr algn="l" marL="476003" indent="-238001" lvl="1">
              <a:lnSpc>
                <a:spcPts val="2425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204">
                <a:solidFill>
                  <a:srgbClr val="737373"/>
                </a:solidFill>
                <a:latin typeface="Avenir Bold"/>
                <a:ea typeface="Avenir Bold"/>
                <a:cs typeface="Avenir Bold"/>
                <a:sym typeface="Avenir Bold"/>
              </a:rPr>
              <a:t>Output Layer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041312" y="8175907"/>
            <a:ext cx="6726444" cy="1335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65"/>
              </a:lnSpc>
            </a:pPr>
            <a:r>
              <a:rPr lang="en-US" sz="2604" b="true">
                <a:solidFill>
                  <a:srgbClr val="2B2C30"/>
                </a:solidFill>
                <a:latin typeface="Avenir Bold"/>
                <a:ea typeface="Avenir Bold"/>
                <a:cs typeface="Avenir Bold"/>
                <a:sym typeface="Avenir Bold"/>
              </a:rPr>
              <a:t>Results</a:t>
            </a:r>
          </a:p>
          <a:p>
            <a:pPr algn="l">
              <a:lnSpc>
                <a:spcPts val="2425"/>
              </a:lnSpc>
            </a:pPr>
          </a:p>
          <a:p>
            <a:pPr algn="l" marL="476003" indent="-238001" lvl="1">
              <a:lnSpc>
                <a:spcPts val="2425"/>
              </a:lnSpc>
              <a:buFont typeface="Arial"/>
              <a:buChar char="•"/>
            </a:pPr>
            <a:r>
              <a:rPr lang="en-US" b="true" sz="2204">
                <a:solidFill>
                  <a:srgbClr val="737373"/>
                </a:solidFill>
                <a:latin typeface="Avenir Bold"/>
                <a:ea typeface="Avenir Bold"/>
                <a:cs typeface="Avenir Bold"/>
                <a:sym typeface="Avenir Bold"/>
              </a:rPr>
              <a:t>Accuracy: 58.70%</a:t>
            </a:r>
          </a:p>
          <a:p>
            <a:pPr algn="l" marL="476003" indent="-238001" lvl="1">
              <a:lnSpc>
                <a:spcPts val="2425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204">
                <a:solidFill>
                  <a:srgbClr val="737373"/>
                </a:solidFill>
                <a:latin typeface="Avenir Bold"/>
                <a:ea typeface="Avenir Bold"/>
                <a:cs typeface="Avenir Bold"/>
                <a:sym typeface="Avenir Bold"/>
              </a:rPr>
              <a:t>Weighted F1: 56.61%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746454" y="9372600"/>
            <a:ext cx="1463635" cy="3302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SHAP Values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69564" y="2578346"/>
            <a:ext cx="5270450" cy="3562006"/>
          </a:xfrm>
          <a:custGeom>
            <a:avLst/>
            <a:gdLst/>
            <a:ahLst/>
            <a:cxnLst/>
            <a:rect r="r" b="b" t="t" l="l"/>
            <a:pathLst>
              <a:path h="3562006" w="5270450">
                <a:moveTo>
                  <a:pt x="0" y="0"/>
                </a:moveTo>
                <a:lnTo>
                  <a:pt x="5270450" y="0"/>
                </a:lnTo>
                <a:lnTo>
                  <a:pt x="5270450" y="3562006"/>
                </a:lnTo>
                <a:lnTo>
                  <a:pt x="0" y="356200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447996" y="2578346"/>
            <a:ext cx="5346351" cy="3562006"/>
          </a:xfrm>
          <a:custGeom>
            <a:avLst/>
            <a:gdLst/>
            <a:ahLst/>
            <a:cxnLst/>
            <a:rect r="r" b="b" t="t" l="l"/>
            <a:pathLst>
              <a:path h="3562006" w="5346351">
                <a:moveTo>
                  <a:pt x="0" y="0"/>
                </a:moveTo>
                <a:lnTo>
                  <a:pt x="5346351" y="0"/>
                </a:lnTo>
                <a:lnTo>
                  <a:pt x="5346351" y="3562006"/>
                </a:lnTo>
                <a:lnTo>
                  <a:pt x="0" y="356200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070828" y="2578346"/>
            <a:ext cx="5346351" cy="3562006"/>
          </a:xfrm>
          <a:custGeom>
            <a:avLst/>
            <a:gdLst/>
            <a:ahLst/>
            <a:cxnLst/>
            <a:rect r="r" b="b" t="t" l="l"/>
            <a:pathLst>
              <a:path h="3562006" w="5346351">
                <a:moveTo>
                  <a:pt x="0" y="0"/>
                </a:moveTo>
                <a:lnTo>
                  <a:pt x="5346351" y="0"/>
                </a:lnTo>
                <a:lnTo>
                  <a:pt x="5346351" y="3562006"/>
                </a:lnTo>
                <a:lnTo>
                  <a:pt x="0" y="356200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758502" y="5254821"/>
            <a:ext cx="4752021" cy="476157"/>
            <a:chOff x="0" y="0"/>
            <a:chExt cx="1251561" cy="12540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51561" cy="125407"/>
            </a:xfrm>
            <a:custGeom>
              <a:avLst/>
              <a:gdLst/>
              <a:ahLst/>
              <a:cxnLst/>
              <a:rect r="r" b="b" t="t" l="l"/>
              <a:pathLst>
                <a:path h="125407" w="1251561">
                  <a:moveTo>
                    <a:pt x="22809" y="0"/>
                  </a:moveTo>
                  <a:lnTo>
                    <a:pt x="1228753" y="0"/>
                  </a:lnTo>
                  <a:cubicBezTo>
                    <a:pt x="1241349" y="0"/>
                    <a:pt x="1251561" y="10212"/>
                    <a:pt x="1251561" y="22809"/>
                  </a:cubicBezTo>
                  <a:lnTo>
                    <a:pt x="1251561" y="102599"/>
                  </a:lnTo>
                  <a:cubicBezTo>
                    <a:pt x="1251561" y="108648"/>
                    <a:pt x="1249158" y="114450"/>
                    <a:pt x="1244881" y="118727"/>
                  </a:cubicBezTo>
                  <a:cubicBezTo>
                    <a:pt x="1240603" y="123004"/>
                    <a:pt x="1234802" y="125407"/>
                    <a:pt x="1228753" y="125407"/>
                  </a:cubicBezTo>
                  <a:lnTo>
                    <a:pt x="22809" y="125407"/>
                  </a:lnTo>
                  <a:cubicBezTo>
                    <a:pt x="10212" y="125407"/>
                    <a:pt x="0" y="115196"/>
                    <a:pt x="0" y="102599"/>
                  </a:cubicBezTo>
                  <a:lnTo>
                    <a:pt x="0" y="22809"/>
                  </a:lnTo>
                  <a:cubicBezTo>
                    <a:pt x="0" y="10212"/>
                    <a:pt x="10212" y="0"/>
                    <a:pt x="22809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57150" cap="sq">
              <a:solidFill>
                <a:srgbClr val="FF914D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1251561" cy="1539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0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2099147" y="2760387"/>
            <a:ext cx="4752021" cy="1184173"/>
            <a:chOff x="0" y="0"/>
            <a:chExt cx="1251561" cy="31188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251561" cy="311881"/>
            </a:xfrm>
            <a:custGeom>
              <a:avLst/>
              <a:gdLst/>
              <a:ahLst/>
              <a:cxnLst/>
              <a:rect r="r" b="b" t="t" l="l"/>
              <a:pathLst>
                <a:path h="311881" w="1251561">
                  <a:moveTo>
                    <a:pt x="22809" y="0"/>
                  </a:moveTo>
                  <a:lnTo>
                    <a:pt x="1228753" y="0"/>
                  </a:lnTo>
                  <a:cubicBezTo>
                    <a:pt x="1241349" y="0"/>
                    <a:pt x="1251561" y="10212"/>
                    <a:pt x="1251561" y="22809"/>
                  </a:cubicBezTo>
                  <a:lnTo>
                    <a:pt x="1251561" y="289072"/>
                  </a:lnTo>
                  <a:cubicBezTo>
                    <a:pt x="1251561" y="301669"/>
                    <a:pt x="1241349" y="311881"/>
                    <a:pt x="1228753" y="311881"/>
                  </a:cubicBezTo>
                  <a:lnTo>
                    <a:pt x="22809" y="311881"/>
                  </a:lnTo>
                  <a:cubicBezTo>
                    <a:pt x="10212" y="311881"/>
                    <a:pt x="0" y="301669"/>
                    <a:pt x="0" y="289072"/>
                  </a:cubicBezTo>
                  <a:lnTo>
                    <a:pt x="0" y="22809"/>
                  </a:lnTo>
                  <a:cubicBezTo>
                    <a:pt x="0" y="10212"/>
                    <a:pt x="10212" y="0"/>
                    <a:pt x="22809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57150" cap="sq">
              <a:solidFill>
                <a:srgbClr val="FF914D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28575"/>
              <a:ext cx="1251561" cy="3404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0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447996" y="2760387"/>
            <a:ext cx="4752021" cy="434508"/>
            <a:chOff x="0" y="0"/>
            <a:chExt cx="1251561" cy="11443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251561" cy="114438"/>
            </a:xfrm>
            <a:custGeom>
              <a:avLst/>
              <a:gdLst/>
              <a:ahLst/>
              <a:cxnLst/>
              <a:rect r="r" b="b" t="t" l="l"/>
              <a:pathLst>
                <a:path h="114438" w="1251561">
                  <a:moveTo>
                    <a:pt x="22809" y="0"/>
                  </a:moveTo>
                  <a:lnTo>
                    <a:pt x="1228753" y="0"/>
                  </a:lnTo>
                  <a:cubicBezTo>
                    <a:pt x="1241349" y="0"/>
                    <a:pt x="1251561" y="10212"/>
                    <a:pt x="1251561" y="22809"/>
                  </a:cubicBezTo>
                  <a:lnTo>
                    <a:pt x="1251561" y="91630"/>
                  </a:lnTo>
                  <a:cubicBezTo>
                    <a:pt x="1251561" y="104227"/>
                    <a:pt x="1241349" y="114438"/>
                    <a:pt x="1228753" y="114438"/>
                  </a:cubicBezTo>
                  <a:lnTo>
                    <a:pt x="22809" y="114438"/>
                  </a:lnTo>
                  <a:cubicBezTo>
                    <a:pt x="10212" y="114438"/>
                    <a:pt x="0" y="104227"/>
                    <a:pt x="0" y="91630"/>
                  </a:cubicBezTo>
                  <a:lnTo>
                    <a:pt x="0" y="22809"/>
                  </a:lnTo>
                  <a:cubicBezTo>
                    <a:pt x="0" y="10212"/>
                    <a:pt x="10212" y="0"/>
                    <a:pt x="22809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57150" cap="sq">
              <a:solidFill>
                <a:srgbClr val="FF914D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28575"/>
              <a:ext cx="1251561" cy="1430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00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2476089" y="6213845"/>
            <a:ext cx="2057400" cy="3302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00"/>
              </a:lnSpc>
              <a:spcBef>
                <a:spcPct val="0"/>
              </a:spcBef>
            </a:pPr>
            <a:r>
              <a:rPr lang="en-US" sz="2000">
                <a:solidFill>
                  <a:srgbClr val="2B2C30"/>
                </a:solidFill>
                <a:latin typeface="Avenir"/>
                <a:ea typeface="Avenir"/>
                <a:cs typeface="Avenir"/>
                <a:sym typeface="Avenir"/>
              </a:rPr>
              <a:t>Very Conservative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556280" y="6213845"/>
            <a:ext cx="1129784" cy="3302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00"/>
              </a:lnSpc>
              <a:spcBef>
                <a:spcPct val="0"/>
              </a:spcBef>
            </a:pPr>
            <a:r>
              <a:rPr lang="en-US" sz="2000">
                <a:solidFill>
                  <a:srgbClr val="2B2C30"/>
                </a:solidFill>
                <a:latin typeface="Avenir"/>
                <a:ea typeface="Avenir"/>
                <a:cs typeface="Avenir"/>
                <a:sym typeface="Avenir"/>
              </a:rPr>
              <a:t>Moderate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4220298" y="6213845"/>
            <a:ext cx="1345763" cy="3302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00"/>
              </a:lnSpc>
              <a:spcBef>
                <a:spcPct val="0"/>
              </a:spcBef>
            </a:pPr>
            <a:r>
              <a:rPr lang="en-US" sz="2000">
                <a:solidFill>
                  <a:srgbClr val="2B2C30"/>
                </a:solidFill>
                <a:latin typeface="Avenir"/>
                <a:ea typeface="Avenir"/>
                <a:cs typeface="Avenir"/>
                <a:sym typeface="Avenir"/>
              </a:rPr>
              <a:t>Very Liberal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1829115" y="6972419"/>
            <a:ext cx="5588064" cy="1392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9182" indent="-259591" lvl="1">
              <a:lnSpc>
                <a:spcPts val="2645"/>
              </a:lnSpc>
              <a:buFont typeface="Arial"/>
              <a:buChar char="•"/>
            </a:pPr>
            <a:r>
              <a:rPr lang="en-US" sz="2404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Party affiliation and religious services are strong predictors</a:t>
            </a:r>
          </a:p>
          <a:p>
            <a:pPr algn="l" marL="519182" indent="-259591" lvl="1">
              <a:lnSpc>
                <a:spcPts val="2645"/>
              </a:lnSpc>
              <a:spcBef>
                <a:spcPct val="0"/>
              </a:spcBef>
              <a:buFont typeface="Arial"/>
              <a:buChar char="•"/>
            </a:pPr>
            <a:r>
              <a:rPr lang="en-US" sz="2404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Free speech concerns indicate conservative beliefs (twprob_1 &amp; 2)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5909119" y="6972419"/>
            <a:ext cx="5588064" cy="725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9182" indent="-259591" lvl="1">
              <a:lnSpc>
                <a:spcPts val="2645"/>
              </a:lnSpc>
              <a:buFont typeface="Arial"/>
              <a:buChar char="•"/>
            </a:pPr>
            <a:r>
              <a:rPr lang="en-US" sz="2404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Moderates can often be identified through their public profiles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870821" y="7050666"/>
            <a:ext cx="5026223" cy="3924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518268" indent="-259134" lvl="1">
              <a:lnSpc>
                <a:spcPts val="2640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No vaccination for conservatives!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28700" y="981075"/>
            <a:ext cx="6726444" cy="7334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50"/>
              </a:lnSpc>
            </a:pPr>
            <a:r>
              <a:rPr lang="en-US" sz="4500" b="true">
                <a:solidFill>
                  <a:srgbClr val="8CA9AD"/>
                </a:solidFill>
                <a:latin typeface="Avenir Bold"/>
                <a:ea typeface="Avenir Bold"/>
                <a:cs typeface="Avenir Bold"/>
                <a:sym typeface="Avenir Bold"/>
              </a:rPr>
              <a:t>Neural Network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2364594"/>
            <a:ext cx="16230600" cy="1683925"/>
          </a:xfrm>
          <a:custGeom>
            <a:avLst/>
            <a:gdLst/>
            <a:ahLst/>
            <a:cxnLst/>
            <a:rect r="r" b="b" t="t" l="l"/>
            <a:pathLst>
              <a:path h="1683925" w="16230600">
                <a:moveTo>
                  <a:pt x="0" y="0"/>
                </a:moveTo>
                <a:lnTo>
                  <a:pt x="16230600" y="0"/>
                </a:lnTo>
                <a:lnTo>
                  <a:pt x="16230600" y="1683924"/>
                </a:lnTo>
                <a:lnTo>
                  <a:pt x="0" y="168392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567128" y="5231550"/>
            <a:ext cx="3476002" cy="3139295"/>
          </a:xfrm>
          <a:custGeom>
            <a:avLst/>
            <a:gdLst/>
            <a:ahLst/>
            <a:cxnLst/>
            <a:rect r="r" b="b" t="t" l="l"/>
            <a:pathLst>
              <a:path h="3139295" w="3476002">
                <a:moveTo>
                  <a:pt x="0" y="0"/>
                </a:moveTo>
                <a:lnTo>
                  <a:pt x="3476002" y="0"/>
                </a:lnTo>
                <a:lnTo>
                  <a:pt x="3476002" y="3139295"/>
                </a:lnTo>
                <a:lnTo>
                  <a:pt x="0" y="313929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981075"/>
            <a:ext cx="8600605" cy="7334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50"/>
              </a:lnSpc>
            </a:pPr>
            <a:r>
              <a:rPr lang="en-US" sz="4500" b="true">
                <a:solidFill>
                  <a:srgbClr val="8CA9AD"/>
                </a:solidFill>
                <a:latin typeface="Avenir Bold"/>
                <a:ea typeface="Avenir Bold"/>
                <a:cs typeface="Avenir Bold"/>
                <a:sym typeface="Avenir Bold"/>
              </a:rPr>
              <a:t>Neural Network: Error Analysis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3001626" y="5193450"/>
            <a:ext cx="7178873" cy="9144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00"/>
              </a:lnSpc>
            </a:pPr>
            <a:r>
              <a:rPr lang="en-US" sz="30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Model overfitted on the training set,</a:t>
            </a:r>
          </a:p>
          <a:p>
            <a:pPr algn="ctr">
              <a:lnSpc>
                <a:spcPts val="33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classifying all Democrats as Conservative.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740579" y="6262811"/>
            <a:ext cx="7700966" cy="13335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Thus the model cannnot distinguish Very Conservative from Conservative, and Very Liberal from Liberal.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023194" y="4019943"/>
            <a:ext cx="7748588" cy="3302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SHAP Force Graph of a Very Conservative classified as Conservative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534617" y="7751272"/>
            <a:ext cx="6112891" cy="9144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More data, or up/down-sampling might help.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128559" y="8467237"/>
            <a:ext cx="353139" cy="3302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. . .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995545" y="38100"/>
            <a:ext cx="13105750" cy="4521484"/>
          </a:xfrm>
          <a:custGeom>
            <a:avLst/>
            <a:gdLst/>
            <a:ahLst/>
            <a:cxnLst/>
            <a:rect r="r" b="b" t="t" l="l"/>
            <a:pathLst>
              <a:path h="4521484" w="13105750">
                <a:moveTo>
                  <a:pt x="0" y="0"/>
                </a:moveTo>
                <a:lnTo>
                  <a:pt x="13105750" y="0"/>
                </a:lnTo>
                <a:lnTo>
                  <a:pt x="13105750" y="4521484"/>
                </a:lnTo>
                <a:lnTo>
                  <a:pt x="0" y="452148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4735861"/>
            <a:ext cx="12198978" cy="5474291"/>
          </a:xfrm>
          <a:custGeom>
            <a:avLst/>
            <a:gdLst/>
            <a:ahLst/>
            <a:cxnLst/>
            <a:rect r="r" b="b" t="t" l="l"/>
            <a:pathLst>
              <a:path h="5474291" w="12198978">
                <a:moveTo>
                  <a:pt x="0" y="0"/>
                </a:moveTo>
                <a:lnTo>
                  <a:pt x="12198978" y="0"/>
                </a:lnTo>
                <a:lnTo>
                  <a:pt x="12198978" y="5474291"/>
                </a:lnTo>
                <a:lnTo>
                  <a:pt x="0" y="547429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198978" y="5143500"/>
            <a:ext cx="6089022" cy="4591575"/>
          </a:xfrm>
          <a:custGeom>
            <a:avLst/>
            <a:gdLst/>
            <a:ahLst/>
            <a:cxnLst/>
            <a:rect r="r" b="b" t="t" l="l"/>
            <a:pathLst>
              <a:path h="4591575" w="6089022">
                <a:moveTo>
                  <a:pt x="0" y="0"/>
                </a:moveTo>
                <a:lnTo>
                  <a:pt x="6089022" y="0"/>
                </a:lnTo>
                <a:lnTo>
                  <a:pt x="6089022" y="4591575"/>
                </a:lnTo>
                <a:lnTo>
                  <a:pt x="0" y="459157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-3456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707231" y="981075"/>
            <a:ext cx="4476158" cy="32480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950"/>
              </a:lnSpc>
            </a:pPr>
            <a:r>
              <a:rPr lang="en-US" sz="4500" b="true">
                <a:solidFill>
                  <a:srgbClr val="8CA9AD"/>
                </a:solidFill>
                <a:latin typeface="Avenir Bold"/>
                <a:ea typeface="Avenir Bold"/>
                <a:cs typeface="Avenir Bold"/>
                <a:sym typeface="Avenir Bold"/>
              </a:rPr>
              <a:t>Comparison</a:t>
            </a:r>
          </a:p>
          <a:p>
            <a:pPr algn="r">
              <a:lnSpc>
                <a:spcPts val="4950"/>
              </a:lnSpc>
            </a:pPr>
          </a:p>
          <a:p>
            <a:pPr algn="ctr">
              <a:lnSpc>
                <a:spcPts val="4950"/>
              </a:lnSpc>
            </a:pPr>
            <a:r>
              <a:rPr lang="en-US" sz="4500" b="true">
                <a:solidFill>
                  <a:srgbClr val="8CA9AD"/>
                </a:solidFill>
                <a:latin typeface="Avenir Bold"/>
                <a:ea typeface="Avenir Bold"/>
                <a:cs typeface="Avenir Bold"/>
                <a:sym typeface="Avenir Bold"/>
              </a:rPr>
              <a:t>&amp;</a:t>
            </a:r>
          </a:p>
          <a:p>
            <a:pPr algn="r">
              <a:lnSpc>
                <a:spcPts val="4950"/>
              </a:lnSpc>
            </a:pPr>
          </a:p>
          <a:p>
            <a:pPr algn="r">
              <a:lnSpc>
                <a:spcPts val="4950"/>
              </a:lnSpc>
            </a:pPr>
            <a:r>
              <a:rPr lang="en-US" b="true" sz="4500">
                <a:solidFill>
                  <a:srgbClr val="8CA9AD"/>
                </a:solidFill>
                <a:latin typeface="Avenir Bold"/>
                <a:ea typeface="Avenir Bold"/>
                <a:cs typeface="Avenir Bold"/>
                <a:sym typeface="Avenir Bold"/>
              </a:rPr>
              <a:t> Evaluation  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20224" y="2271540"/>
            <a:ext cx="16647552" cy="6986760"/>
          </a:xfrm>
          <a:custGeom>
            <a:avLst/>
            <a:gdLst/>
            <a:ahLst/>
            <a:cxnLst/>
            <a:rect r="r" b="b" t="t" l="l"/>
            <a:pathLst>
              <a:path h="6986760" w="16647552">
                <a:moveTo>
                  <a:pt x="0" y="0"/>
                </a:moveTo>
                <a:lnTo>
                  <a:pt x="16647552" y="0"/>
                </a:lnTo>
                <a:lnTo>
                  <a:pt x="16647552" y="6986760"/>
                </a:lnTo>
                <a:lnTo>
                  <a:pt x="0" y="698676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64" t="-1415" r="0" b="-1415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07231" y="981075"/>
            <a:ext cx="11071051" cy="7334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950"/>
              </a:lnSpc>
            </a:pPr>
            <a:r>
              <a:rPr lang="en-US" b="true" sz="4500">
                <a:solidFill>
                  <a:srgbClr val="8CA9AD"/>
                </a:solidFill>
                <a:latin typeface="Avenir Bold"/>
                <a:ea typeface="Avenir Bold"/>
                <a:cs typeface="Avenir Bold"/>
                <a:sym typeface="Avenir Bold"/>
              </a:rPr>
              <a:t>Comparison &amp; </a:t>
            </a:r>
            <a:r>
              <a:rPr lang="en-US" b="true" sz="4500">
                <a:solidFill>
                  <a:srgbClr val="8CA9AD"/>
                </a:solidFill>
                <a:latin typeface="Avenir Bold"/>
                <a:ea typeface="Avenir Bold"/>
                <a:cs typeface="Avenir Bold"/>
                <a:sym typeface="Avenir Bold"/>
              </a:rPr>
              <a:t> Evaluation   (Per-class)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737734" y="1322400"/>
            <a:ext cx="5903445" cy="5933111"/>
          </a:xfrm>
          <a:custGeom>
            <a:avLst/>
            <a:gdLst/>
            <a:ahLst/>
            <a:cxnLst/>
            <a:rect r="r" b="b" t="t" l="l"/>
            <a:pathLst>
              <a:path h="5933111" w="5903445">
                <a:moveTo>
                  <a:pt x="0" y="0"/>
                </a:moveTo>
                <a:lnTo>
                  <a:pt x="5903445" y="0"/>
                </a:lnTo>
                <a:lnTo>
                  <a:pt x="5903445" y="5933111"/>
                </a:lnTo>
                <a:lnTo>
                  <a:pt x="0" y="593311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1466" y="1322400"/>
            <a:ext cx="5903445" cy="5933111"/>
          </a:xfrm>
          <a:custGeom>
            <a:avLst/>
            <a:gdLst/>
            <a:ahLst/>
            <a:cxnLst/>
            <a:rect r="r" b="b" t="t" l="l"/>
            <a:pathLst>
              <a:path h="5933111" w="5903445">
                <a:moveTo>
                  <a:pt x="0" y="0"/>
                </a:moveTo>
                <a:lnTo>
                  <a:pt x="5903446" y="0"/>
                </a:lnTo>
                <a:lnTo>
                  <a:pt x="5903446" y="5933111"/>
                </a:lnTo>
                <a:lnTo>
                  <a:pt x="0" y="593311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004912" y="1322400"/>
            <a:ext cx="5903445" cy="5933111"/>
          </a:xfrm>
          <a:custGeom>
            <a:avLst/>
            <a:gdLst/>
            <a:ahLst/>
            <a:cxnLst/>
            <a:rect r="r" b="b" t="t" l="l"/>
            <a:pathLst>
              <a:path h="5933111" w="5903445">
                <a:moveTo>
                  <a:pt x="0" y="0"/>
                </a:moveTo>
                <a:lnTo>
                  <a:pt x="5903445" y="0"/>
                </a:lnTo>
                <a:lnTo>
                  <a:pt x="5903445" y="5933111"/>
                </a:lnTo>
                <a:lnTo>
                  <a:pt x="0" y="593311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6723385" y="7150901"/>
            <a:ext cx="11301259" cy="3136099"/>
          </a:xfrm>
          <a:custGeom>
            <a:avLst/>
            <a:gdLst/>
            <a:ahLst/>
            <a:cxnLst/>
            <a:rect r="r" b="b" t="t" l="l"/>
            <a:pathLst>
              <a:path h="3136099" w="11301259">
                <a:moveTo>
                  <a:pt x="0" y="0"/>
                </a:moveTo>
                <a:lnTo>
                  <a:pt x="11301259" y="0"/>
                </a:lnTo>
                <a:lnTo>
                  <a:pt x="11301259" y="3136099"/>
                </a:lnTo>
                <a:lnTo>
                  <a:pt x="0" y="313609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6291411" y="374720"/>
            <a:ext cx="5330447" cy="6610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28"/>
              </a:lnSpc>
              <a:spcBef>
                <a:spcPct val="0"/>
              </a:spcBef>
            </a:pPr>
            <a:r>
              <a:rPr lang="en-US" b="true" sz="4025">
                <a:solidFill>
                  <a:srgbClr val="8CA9AD"/>
                </a:solidFill>
                <a:latin typeface="Avenir Bold"/>
                <a:ea typeface="Avenir Bold"/>
                <a:cs typeface="Avenir Bold"/>
                <a:sym typeface="Avenir Bold"/>
              </a:rPr>
              <a:t>Logistic Regression L2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424823" y="374355"/>
            <a:ext cx="3256731" cy="6607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428"/>
              </a:lnSpc>
              <a:spcBef>
                <a:spcPct val="0"/>
              </a:spcBef>
            </a:pPr>
            <a:r>
              <a:rPr lang="en-US" b="true" sz="4025" strike="noStrike" u="none">
                <a:solidFill>
                  <a:srgbClr val="8CA9AD"/>
                </a:solidFill>
                <a:latin typeface="Avenir Bold"/>
                <a:ea typeface="Avenir Bold"/>
                <a:cs typeface="Avenir Bold"/>
                <a:sym typeface="Avenir Bold"/>
              </a:rPr>
              <a:t>Decision Tree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112958" y="374355"/>
            <a:ext cx="5528221" cy="6607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428"/>
              </a:lnSpc>
              <a:spcBef>
                <a:spcPct val="0"/>
              </a:spcBef>
            </a:pPr>
            <a:r>
              <a:rPr lang="en-US" b="true" sz="4025" strike="noStrike" u="none">
                <a:solidFill>
                  <a:srgbClr val="8CA9AD"/>
                </a:solidFill>
                <a:latin typeface="Avenir Bold"/>
                <a:ea typeface="Avenir Bold"/>
                <a:cs typeface="Avenir Bold"/>
                <a:sym typeface="Avenir Bold"/>
              </a:rPr>
              <a:t>Neural Network Model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68827" y="7896219"/>
            <a:ext cx="4368725" cy="13620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50"/>
              </a:lnSpc>
              <a:spcBef>
                <a:spcPct val="0"/>
              </a:spcBef>
            </a:pPr>
            <a:r>
              <a:rPr lang="en-US" b="true" sz="4500">
                <a:solidFill>
                  <a:srgbClr val="8CA9AD"/>
                </a:solidFill>
                <a:latin typeface="Avenir Bold"/>
                <a:ea typeface="Avenir Bold"/>
                <a:cs typeface="Avenir Bold"/>
                <a:sym typeface="Avenir Bold"/>
              </a:rPr>
              <a:t>E</a:t>
            </a:r>
            <a:r>
              <a:rPr lang="en-US" b="true" sz="4500">
                <a:solidFill>
                  <a:srgbClr val="8CA9AD"/>
                </a:solidFill>
                <a:latin typeface="Avenir Bold"/>
                <a:ea typeface="Avenir Bold"/>
                <a:cs typeface="Avenir Bold"/>
                <a:sym typeface="Avenir Bold"/>
              </a:rPr>
              <a:t>rror Analysis </a:t>
            </a:r>
          </a:p>
          <a:p>
            <a:pPr algn="ctr" marL="0" indent="0" lvl="0">
              <a:lnSpc>
                <a:spcPts val="4950"/>
              </a:lnSpc>
              <a:spcBef>
                <a:spcPct val="0"/>
              </a:spcBef>
            </a:pPr>
            <a:r>
              <a:rPr lang="en-US" b="true" sz="4500" strike="noStrike" u="none">
                <a:solidFill>
                  <a:srgbClr val="8CA9AD"/>
                </a:solidFill>
                <a:latin typeface="Avenir Bold"/>
                <a:ea typeface="Avenir Bold"/>
                <a:cs typeface="Avenir Bold"/>
                <a:sym typeface="Avenir Bold"/>
              </a:rPr>
              <a:t>(Per-class)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913835" y="814439"/>
            <a:ext cx="14460329" cy="8658122"/>
          </a:xfrm>
          <a:custGeom>
            <a:avLst/>
            <a:gdLst/>
            <a:ahLst/>
            <a:cxnLst/>
            <a:rect r="r" b="b" t="t" l="l"/>
            <a:pathLst>
              <a:path h="8658122" w="14460329">
                <a:moveTo>
                  <a:pt x="0" y="0"/>
                </a:moveTo>
                <a:lnTo>
                  <a:pt x="14460330" y="0"/>
                </a:lnTo>
                <a:lnTo>
                  <a:pt x="14460330" y="8658122"/>
                </a:lnTo>
                <a:lnTo>
                  <a:pt x="0" y="865812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512937" y="377758"/>
            <a:ext cx="5202626" cy="2859722"/>
          </a:xfrm>
          <a:custGeom>
            <a:avLst/>
            <a:gdLst/>
            <a:ahLst/>
            <a:cxnLst/>
            <a:rect r="r" b="b" t="t" l="l"/>
            <a:pathLst>
              <a:path h="2859722" w="5202626">
                <a:moveTo>
                  <a:pt x="0" y="0"/>
                </a:moveTo>
                <a:lnTo>
                  <a:pt x="5202626" y="0"/>
                </a:lnTo>
                <a:lnTo>
                  <a:pt x="5202626" y="2859721"/>
                </a:lnTo>
                <a:lnTo>
                  <a:pt x="0" y="285972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145896" y="320608"/>
            <a:ext cx="7598185" cy="7422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945"/>
              </a:lnSpc>
            </a:pPr>
            <a:r>
              <a:rPr lang="en-US" b="true" sz="4496">
                <a:solidFill>
                  <a:srgbClr val="8CA9AD"/>
                </a:solidFill>
                <a:latin typeface="Avenir Bold"/>
                <a:ea typeface="Avenir Bold"/>
                <a:cs typeface="Avenir Bold"/>
                <a:sym typeface="Avenir Bold"/>
              </a:rPr>
              <a:t>Ensemble -- Voting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085147" y="1062887"/>
            <a:ext cx="14117706" cy="8400035"/>
          </a:xfrm>
          <a:custGeom>
            <a:avLst/>
            <a:gdLst/>
            <a:ahLst/>
            <a:cxnLst/>
            <a:rect r="r" b="b" t="t" l="l"/>
            <a:pathLst>
              <a:path h="8400035" w="14117706">
                <a:moveTo>
                  <a:pt x="0" y="0"/>
                </a:moveTo>
                <a:lnTo>
                  <a:pt x="14117706" y="0"/>
                </a:lnTo>
                <a:lnTo>
                  <a:pt x="14117706" y="8400035"/>
                </a:lnTo>
                <a:lnTo>
                  <a:pt x="0" y="840003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145896" y="320608"/>
            <a:ext cx="7598185" cy="7422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945"/>
              </a:lnSpc>
            </a:pPr>
            <a:r>
              <a:rPr lang="en-US" b="true" sz="4496">
                <a:solidFill>
                  <a:srgbClr val="8CA9AD"/>
                </a:solidFill>
                <a:latin typeface="Avenir Bold"/>
                <a:ea typeface="Avenir Bold"/>
                <a:cs typeface="Avenir Bold"/>
                <a:sym typeface="Avenir Bold"/>
              </a:rPr>
              <a:t>Ensemble -- Voting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-512937" y="377758"/>
            <a:ext cx="5202626" cy="2859722"/>
          </a:xfrm>
          <a:custGeom>
            <a:avLst/>
            <a:gdLst/>
            <a:ahLst/>
            <a:cxnLst/>
            <a:rect r="r" b="b" t="t" l="l"/>
            <a:pathLst>
              <a:path h="2859722" w="5202626">
                <a:moveTo>
                  <a:pt x="0" y="0"/>
                </a:moveTo>
                <a:lnTo>
                  <a:pt x="5202626" y="0"/>
                </a:lnTo>
                <a:lnTo>
                  <a:pt x="5202626" y="2859721"/>
                </a:lnTo>
                <a:lnTo>
                  <a:pt x="0" y="285972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039443" y="1275995"/>
            <a:ext cx="14209115" cy="8402473"/>
          </a:xfrm>
          <a:custGeom>
            <a:avLst/>
            <a:gdLst/>
            <a:ahLst/>
            <a:cxnLst/>
            <a:rect r="r" b="b" t="t" l="l"/>
            <a:pathLst>
              <a:path h="8402473" w="14209115">
                <a:moveTo>
                  <a:pt x="0" y="0"/>
                </a:moveTo>
                <a:lnTo>
                  <a:pt x="14209114" y="0"/>
                </a:lnTo>
                <a:lnTo>
                  <a:pt x="14209114" y="8402474"/>
                </a:lnTo>
                <a:lnTo>
                  <a:pt x="0" y="840247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46" t="-3648" r="-446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145896" y="320608"/>
            <a:ext cx="7598185" cy="7422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945"/>
              </a:lnSpc>
            </a:pPr>
            <a:r>
              <a:rPr lang="en-US" b="true" sz="4496">
                <a:solidFill>
                  <a:srgbClr val="8CA9AD"/>
                </a:solidFill>
                <a:latin typeface="Avenir Bold"/>
                <a:ea typeface="Avenir Bold"/>
                <a:cs typeface="Avenir Bold"/>
                <a:sym typeface="Avenir Bold"/>
              </a:rPr>
              <a:t>Ensemble -- Voting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-512937" y="377758"/>
            <a:ext cx="5202626" cy="2859722"/>
          </a:xfrm>
          <a:custGeom>
            <a:avLst/>
            <a:gdLst/>
            <a:ahLst/>
            <a:cxnLst/>
            <a:rect r="r" b="b" t="t" l="l"/>
            <a:pathLst>
              <a:path h="2859722" w="5202626">
                <a:moveTo>
                  <a:pt x="0" y="0"/>
                </a:moveTo>
                <a:lnTo>
                  <a:pt x="5202626" y="0"/>
                </a:lnTo>
                <a:lnTo>
                  <a:pt x="5202626" y="2859721"/>
                </a:lnTo>
                <a:lnTo>
                  <a:pt x="0" y="285972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88091" y="1902905"/>
            <a:ext cx="15111818" cy="7650358"/>
          </a:xfrm>
          <a:custGeom>
            <a:avLst/>
            <a:gdLst/>
            <a:ahLst/>
            <a:cxnLst/>
            <a:rect r="r" b="b" t="t" l="l"/>
            <a:pathLst>
              <a:path h="7650358" w="15111818">
                <a:moveTo>
                  <a:pt x="0" y="0"/>
                </a:moveTo>
                <a:lnTo>
                  <a:pt x="15111818" y="0"/>
                </a:lnTo>
                <a:lnTo>
                  <a:pt x="15111818" y="7650358"/>
                </a:lnTo>
                <a:lnTo>
                  <a:pt x="0" y="765035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971550"/>
            <a:ext cx="11820878" cy="7422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945"/>
              </a:lnSpc>
            </a:pPr>
            <a:r>
              <a:rPr lang="en-US" b="true" sz="4496">
                <a:solidFill>
                  <a:srgbClr val="8CA9AD"/>
                </a:solidFill>
                <a:latin typeface="Avenir Bold"/>
                <a:ea typeface="Avenir Bold"/>
                <a:cs typeface="Avenir Bold"/>
                <a:sym typeface="Avenir Bold"/>
              </a:rPr>
              <a:t>Final Model Performance Report: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971550"/>
            <a:ext cx="11820878" cy="7422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945"/>
              </a:lnSpc>
            </a:pPr>
            <a:r>
              <a:rPr lang="en-US" b="true" sz="4496">
                <a:solidFill>
                  <a:srgbClr val="8CA9AD"/>
                </a:solidFill>
                <a:latin typeface="Avenir Bold"/>
                <a:ea typeface="Avenir Bold"/>
                <a:cs typeface="Avenir Bold"/>
                <a:sym typeface="Avenir Bold"/>
              </a:rPr>
              <a:t>Answering the research question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0888" y="2929602"/>
            <a:ext cx="11376936" cy="9144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0"/>
              </a:lnSpc>
            </a:pPr>
            <a:r>
              <a:rPr lang="en-US" sz="3000">
                <a:solidFill>
                  <a:srgbClr val="737373"/>
                </a:solidFill>
                <a:latin typeface="Avenir"/>
                <a:ea typeface="Avenir"/>
                <a:cs typeface="Avenir"/>
                <a:sym typeface="Avenir"/>
              </a:rPr>
              <a:t>How do social media usage patterns and demographic information reveal individuals’ political ideology?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-1216189" y="2169488"/>
            <a:ext cx="7677707" cy="4953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Research Question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43413" y="4110708"/>
            <a:ext cx="17126665" cy="13335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805" indent="-323903" lvl="1">
              <a:lnSpc>
                <a:spcPts val="3300"/>
              </a:lnSpc>
              <a:buFont typeface="Arial"/>
              <a:buChar char="•"/>
            </a:pPr>
            <a:r>
              <a:rPr lang="en-US" sz="3000">
                <a:solidFill>
                  <a:srgbClr val="2B2C30"/>
                </a:solidFill>
                <a:latin typeface="Avenir"/>
                <a:ea typeface="Avenir"/>
                <a:cs typeface="Avenir"/>
                <a:sym typeface="Avenir"/>
              </a:rPr>
              <a:t>Machine Learning can predict political ideology to a great extent.</a:t>
            </a:r>
          </a:p>
          <a:p>
            <a:pPr algn="l" marL="647805" indent="-323903" lvl="1">
              <a:lnSpc>
                <a:spcPts val="3300"/>
              </a:lnSpc>
              <a:buFont typeface="Arial"/>
              <a:buChar char="•"/>
            </a:pPr>
            <a:r>
              <a:rPr lang="en-US" b="true" sz="3000">
                <a:solidFill>
                  <a:srgbClr val="2B2C30"/>
                </a:solidFill>
                <a:latin typeface="Avenir Bold"/>
                <a:ea typeface="Avenir Bold"/>
                <a:cs typeface="Avenir Bold"/>
                <a:sym typeface="Avenir Bold"/>
              </a:rPr>
              <a:t>Party affiliation</a:t>
            </a:r>
            <a:r>
              <a:rPr lang="en-US" sz="3000">
                <a:solidFill>
                  <a:srgbClr val="2B2C30"/>
                </a:solidFill>
                <a:latin typeface="Avenir"/>
                <a:ea typeface="Avenir"/>
                <a:cs typeface="Avenir"/>
                <a:sym typeface="Avenir"/>
              </a:rPr>
              <a:t>, </a:t>
            </a:r>
            <a:r>
              <a:rPr lang="en-US" b="true" sz="3000">
                <a:solidFill>
                  <a:srgbClr val="2B2C30"/>
                </a:solidFill>
                <a:latin typeface="Avenir Bold"/>
                <a:ea typeface="Avenir Bold"/>
                <a:cs typeface="Avenir Bold"/>
                <a:sym typeface="Avenir Bold"/>
              </a:rPr>
              <a:t>freedom of speech</a:t>
            </a:r>
            <a:r>
              <a:rPr lang="en-US" sz="3000">
                <a:solidFill>
                  <a:srgbClr val="2B2C30"/>
                </a:solidFill>
                <a:latin typeface="Avenir"/>
                <a:ea typeface="Avenir"/>
                <a:cs typeface="Avenir"/>
                <a:sym typeface="Avenir"/>
              </a:rPr>
              <a:t>, and </a:t>
            </a:r>
            <a:r>
              <a:rPr lang="en-US" b="true" sz="3000">
                <a:solidFill>
                  <a:srgbClr val="2B2C30"/>
                </a:solidFill>
                <a:latin typeface="Avenir Bold"/>
                <a:ea typeface="Avenir Bold"/>
                <a:cs typeface="Avenir Bold"/>
                <a:sym typeface="Avenir Bold"/>
              </a:rPr>
              <a:t>religious service attendence</a:t>
            </a:r>
            <a:r>
              <a:rPr lang="en-US" sz="3000">
                <a:solidFill>
                  <a:srgbClr val="2B2C30"/>
                </a:solidFill>
                <a:latin typeface="Avenir"/>
                <a:ea typeface="Avenir"/>
                <a:cs typeface="Avenir"/>
                <a:sym typeface="Avenir"/>
              </a:rPr>
              <a:t> are powerful predictors.</a:t>
            </a:r>
          </a:p>
          <a:p>
            <a:pPr algn="l" marL="647805" indent="-323903" lvl="1">
              <a:lnSpc>
                <a:spcPts val="3300"/>
              </a:lnSpc>
              <a:buFont typeface="Arial"/>
              <a:buChar char="•"/>
            </a:pPr>
            <a:r>
              <a:rPr lang="en-US" sz="3000">
                <a:solidFill>
                  <a:srgbClr val="2B2C30"/>
                </a:solidFill>
                <a:latin typeface="Avenir"/>
                <a:ea typeface="Avenir"/>
                <a:cs typeface="Avenir"/>
                <a:sym typeface="Avenir"/>
              </a:rPr>
              <a:t>Extreme ideologies are harder to detect.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43413" y="6720570"/>
            <a:ext cx="14118431" cy="17526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805" indent="-323903" lvl="1">
              <a:lnSpc>
                <a:spcPts val="3300"/>
              </a:lnSpc>
              <a:buFont typeface="Arial"/>
              <a:buChar char="•"/>
            </a:pPr>
            <a:r>
              <a:rPr lang="en-US" sz="3000">
                <a:solidFill>
                  <a:srgbClr val="2B2C30"/>
                </a:solidFill>
                <a:latin typeface="Avenir"/>
                <a:ea typeface="Avenir"/>
                <a:cs typeface="Avenir"/>
                <a:sym typeface="Avenir"/>
              </a:rPr>
              <a:t>More data; up/down sampling</a:t>
            </a:r>
          </a:p>
          <a:p>
            <a:pPr algn="l" marL="647805" indent="-323903" lvl="1">
              <a:lnSpc>
                <a:spcPts val="3300"/>
              </a:lnSpc>
              <a:buFont typeface="Arial"/>
              <a:buChar char="•"/>
            </a:pPr>
            <a:r>
              <a:rPr lang="en-US" sz="3000">
                <a:solidFill>
                  <a:srgbClr val="2B2C30"/>
                </a:solidFill>
                <a:latin typeface="Avenir"/>
                <a:ea typeface="Avenir"/>
                <a:cs typeface="Avenir"/>
                <a:sym typeface="Avenir"/>
              </a:rPr>
              <a:t>Data augmentation with LLM</a:t>
            </a:r>
          </a:p>
          <a:p>
            <a:pPr algn="l" marL="647805" indent="-323903" lvl="1">
              <a:lnSpc>
                <a:spcPts val="3300"/>
              </a:lnSpc>
              <a:buFont typeface="Arial"/>
              <a:buChar char="•"/>
            </a:pPr>
            <a:r>
              <a:rPr lang="en-US" sz="3000">
                <a:solidFill>
                  <a:srgbClr val="2B2C30"/>
                </a:solidFill>
                <a:latin typeface="Avenir"/>
                <a:ea typeface="Avenir"/>
                <a:cs typeface="Avenir"/>
                <a:sym typeface="Avenir"/>
              </a:rPr>
              <a:t>Predictions based on actual twitter posts</a:t>
            </a:r>
          </a:p>
          <a:p>
            <a:pPr algn="l" marL="647805" indent="-323903" lvl="1">
              <a:lnSpc>
                <a:spcPts val="3300"/>
              </a:lnSpc>
              <a:buFont typeface="Arial"/>
              <a:buChar char="•"/>
            </a:pPr>
            <a:r>
              <a:rPr lang="en-US" sz="3000">
                <a:solidFill>
                  <a:srgbClr val="2B2C30"/>
                </a:solidFill>
                <a:latin typeface="Avenir"/>
                <a:ea typeface="Avenir"/>
                <a:cs typeface="Avenir"/>
                <a:sym typeface="Avenir"/>
              </a:rPr>
              <a:t>More advanced stance detection to study ideology as dynamic social construct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-1744541" y="5968089"/>
            <a:ext cx="7677707" cy="4953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Future Work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971550"/>
            <a:ext cx="11820878" cy="7422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945"/>
              </a:lnSpc>
            </a:pPr>
            <a:r>
              <a:rPr lang="en-US" b="true" sz="4496">
                <a:solidFill>
                  <a:srgbClr val="8CA9AD"/>
                </a:solidFill>
                <a:latin typeface="Avenir Bold"/>
                <a:ea typeface="Avenir Bold"/>
                <a:cs typeface="Avenir Bold"/>
                <a:sym typeface="Avenir Bold"/>
              </a:rPr>
              <a:t>Lab Feedback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4066394" y="3165437"/>
            <a:ext cx="10155213" cy="34290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805" indent="-323903" lvl="1">
              <a:lnSpc>
                <a:spcPts val="33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Omit party affiliation, compare model performance and identify other important features.</a:t>
            </a:r>
          </a:p>
          <a:p>
            <a:pPr algn="l" marL="647805" indent="-323903" lvl="1">
              <a:lnSpc>
                <a:spcPts val="33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The definition of ideology changes over time: applying a fundamental definition of conservative and liberal leanings, and evaluate individual opinions might provide a more objective understanding of the bipartisan system.</a:t>
            </a:r>
          </a:p>
          <a:p>
            <a:pPr algn="r">
              <a:lnSpc>
                <a:spcPts val="3300"/>
              </a:lnSpc>
            </a:pPr>
            <a:r>
              <a:rPr lang="en-US" sz="30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From Anita’s Group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971550"/>
            <a:ext cx="11820878" cy="7422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945"/>
              </a:lnSpc>
            </a:pPr>
            <a:r>
              <a:rPr lang="en-US" b="true" sz="4496">
                <a:solidFill>
                  <a:srgbClr val="8CA9AD"/>
                </a:solidFill>
                <a:latin typeface="Avenir Bold"/>
                <a:ea typeface="Avenir Bold"/>
                <a:cs typeface="Avenir Bold"/>
                <a:sym typeface="Avenir Bold"/>
              </a:rPr>
              <a:t>Contributions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5250707"/>
            <a:ext cx="12475146" cy="4953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Charlotte Li: Research Question, EDA, Error Analysis, Ensemble Methods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2396538"/>
            <a:ext cx="12473583" cy="4953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Eddie Tian: Research Question, Data Preprocessing, Tree-based models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3349044"/>
            <a:ext cx="12182959" cy="4953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Jiahang Luo: Research Question, EDA, Logistic Regression Models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4301550"/>
            <a:ext cx="12182959" cy="4953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Peter Zhang: Research Question, EDA, Neural Network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DAGeiXR6Oss</dc:identifier>
  <dcterms:modified xsi:type="dcterms:W3CDTF">2011-08-01T06:04:30Z</dcterms:modified>
  <cp:revision>1</cp:revision>
  <dc:title>Group_Project_MACS30100</dc:title>
</cp:coreProperties>
</file>